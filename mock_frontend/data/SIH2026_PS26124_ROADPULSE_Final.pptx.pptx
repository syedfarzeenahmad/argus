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" charset="1" panose="02020603050405020304"/>
      <p:regular r:id="rId12"/>
    </p:embeddedFont>
    <p:embeddedFont>
      <p:font typeface="Garamond Bold" charset="1" panose="02020804030307010803"/>
      <p:regular r:id="rId13"/>
    </p:embeddedFont>
    <p:embeddedFont>
      <p:font typeface="Aptos Bold" charset="1" panose="020B0004020202020204"/>
      <p:regular r:id="rId14"/>
    </p:embeddedFont>
    <p:embeddedFont>
      <p:font typeface="Aptos" charset="1" panose="020B0004020202020204"/>
      <p:regular r:id="rId15"/>
    </p:embeddedFont>
    <p:embeddedFont>
      <p:font typeface="Arimo Bold" charset="1" panose="020B0704020202020204"/>
      <p:regular r:id="rId19"/>
    </p:embeddedFont>
    <p:embeddedFont>
      <p:font typeface="Roboto Bold" charset="1" panose="02000000000000000000"/>
      <p:regular r:id="rId20"/>
    </p:embeddedFont>
    <p:embeddedFont>
      <p:font typeface="Times New Roman Bold" charset="1" panose="02020803070505020304"/>
      <p:regular r:id="rId21"/>
    </p:embeddedFont>
    <p:embeddedFont>
      <p:font typeface="Roboto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5496" y="1691002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22663" y="2987535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-3495605" y="-16802"/>
            <a:ext cx="10059942" cy="59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2"/>
              </a:lnSpc>
            </a:pPr>
            <a:r>
              <a:rPr lang="en-US" sz="38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RollingCensus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06657" y="-540858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06657" y="3132963"/>
            <a:ext cx="11608357" cy="389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1"/>
              </a:lnSpc>
            </a:pPr>
            <a:r>
              <a:rPr lang="en-US" sz="3751" b="true">
                <a:solidFill>
                  <a:srgbClr val="FF7E23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ID – </a:t>
            </a:r>
            <a:r>
              <a:rPr lang="en-US" sz="3751">
                <a:solidFill>
                  <a:srgbClr val="0C1115"/>
                </a:solidFill>
                <a:latin typeface="Aptos"/>
                <a:ea typeface="Aptos"/>
                <a:cs typeface="Aptos"/>
                <a:sym typeface="Aptos"/>
              </a:rPr>
              <a:t>26124</a:t>
            </a:r>
          </a:p>
          <a:p>
            <a:pPr algn="l">
              <a:lnSpc>
                <a:spcPts val="4501"/>
              </a:lnSpc>
            </a:pPr>
            <a:r>
              <a:rPr lang="en-US" sz="3751" b="true">
                <a:solidFill>
                  <a:srgbClr val="FF7E23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Title – </a:t>
            </a:r>
            <a:r>
              <a:rPr lang="en-US" sz="3751">
                <a:solidFill>
                  <a:srgbClr val="0C1115"/>
                </a:solidFill>
                <a:latin typeface="Aptos"/>
                <a:ea typeface="Aptos"/>
                <a:cs typeface="Aptos"/>
                <a:sym typeface="Aptos"/>
              </a:rPr>
              <a:t>AI-Powered Mobile Urban Intelligence Platform Using Public Transport Fleet</a:t>
            </a:r>
          </a:p>
          <a:p>
            <a:pPr algn="l">
              <a:lnSpc>
                <a:spcPts val="4501"/>
              </a:lnSpc>
            </a:pPr>
            <a:r>
              <a:rPr lang="en-US" sz="3751" b="true">
                <a:solidFill>
                  <a:srgbClr val="FF7E23"/>
                </a:solidFill>
                <a:latin typeface="Aptos Bold"/>
                <a:ea typeface="Aptos Bold"/>
                <a:cs typeface="Aptos Bold"/>
                <a:sym typeface="Aptos Bold"/>
              </a:rPr>
              <a:t>Theme – </a:t>
            </a:r>
            <a:r>
              <a:rPr lang="en-US" sz="3751">
                <a:solidFill>
                  <a:srgbClr val="0C1115"/>
                </a:solidFill>
                <a:latin typeface="Aptos"/>
                <a:ea typeface="Aptos"/>
                <a:cs typeface="Aptos"/>
                <a:sym typeface="Aptos"/>
              </a:rPr>
              <a:t>Smart Automation</a:t>
            </a:r>
          </a:p>
          <a:p>
            <a:pPr algn="l">
              <a:lnSpc>
                <a:spcPts val="4501"/>
              </a:lnSpc>
            </a:pPr>
            <a:r>
              <a:rPr lang="en-US" sz="3751" b="true">
                <a:solidFill>
                  <a:srgbClr val="FF7E23"/>
                </a:solidFill>
                <a:latin typeface="Aptos Bold"/>
                <a:ea typeface="Aptos Bold"/>
                <a:cs typeface="Aptos Bold"/>
                <a:sym typeface="Aptos Bold"/>
              </a:rPr>
              <a:t>PS Category – </a:t>
            </a:r>
            <a:r>
              <a:rPr lang="en-US" sz="3751">
                <a:solidFill>
                  <a:srgbClr val="0C1115"/>
                </a:solidFill>
                <a:latin typeface="Aptos"/>
                <a:ea typeface="Aptos"/>
                <a:cs typeface="Aptos"/>
                <a:sym typeface="Aptos"/>
              </a:rPr>
              <a:t>Software</a:t>
            </a:r>
          </a:p>
          <a:p>
            <a:pPr algn="l">
              <a:lnSpc>
                <a:spcPts val="4501"/>
              </a:lnSpc>
            </a:pPr>
            <a:r>
              <a:rPr lang="en-US" sz="3751" b="true">
                <a:solidFill>
                  <a:srgbClr val="FF7E23"/>
                </a:solidFill>
                <a:latin typeface="Aptos Bold"/>
                <a:ea typeface="Aptos Bold"/>
                <a:cs typeface="Aptos Bold"/>
                <a:sym typeface="Aptos Bold"/>
              </a:rPr>
              <a:t>Team ID – </a:t>
            </a:r>
          </a:p>
          <a:p>
            <a:pPr algn="l">
              <a:lnSpc>
                <a:spcPts val="4501"/>
              </a:lnSpc>
            </a:pPr>
            <a:r>
              <a:rPr lang="en-US" sz="3751" b="true">
                <a:solidFill>
                  <a:srgbClr val="FF7E23"/>
                </a:solidFill>
                <a:latin typeface="Aptos Bold"/>
                <a:ea typeface="Aptos Bold"/>
                <a:cs typeface="Aptos Bold"/>
                <a:sym typeface="Aptos Bold"/>
              </a:rPr>
              <a:t>Team Name – </a:t>
            </a:r>
            <a:r>
              <a:rPr lang="en-US" sz="3751">
                <a:solidFill>
                  <a:srgbClr val="0C1115"/>
                </a:solidFill>
                <a:latin typeface="Aptos"/>
                <a:ea typeface="Aptos"/>
                <a:cs typeface="Aptos"/>
                <a:sym typeface="Aptos"/>
              </a:rPr>
              <a:t>RollingCensus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8620905"/>
            <a:ext cx="6332184" cy="472803"/>
            <a:chOff x="0" y="0"/>
            <a:chExt cx="68580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58000" cy="512064"/>
            </a:xfrm>
            <a:custGeom>
              <a:avLst/>
              <a:gdLst/>
              <a:ahLst/>
              <a:cxnLst/>
              <a:rect r="r" b="b" t="t" l="l"/>
              <a:pathLst>
                <a:path h="512064" w="6858000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6772656" y="0"/>
                  </a:lnTo>
                  <a:cubicBezTo>
                    <a:pt x="6819773" y="0"/>
                    <a:pt x="6858000" y="38227"/>
                    <a:pt x="6858000" y="85344"/>
                  </a:cubicBezTo>
                  <a:lnTo>
                    <a:pt x="6858000" y="426720"/>
                  </a:lnTo>
                  <a:cubicBezTo>
                    <a:pt x="6858000" y="473837"/>
                    <a:pt x="6819773" y="512064"/>
                    <a:pt x="6772656" y="512064"/>
                  </a:cubicBezTo>
                  <a:lnTo>
                    <a:pt x="85344" y="512064"/>
                  </a:lnTo>
                  <a:cubicBezTo>
                    <a:pt x="3822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38809" y="8637791"/>
            <a:ext cx="6163326" cy="405260"/>
            <a:chOff x="0" y="0"/>
            <a:chExt cx="6675120" cy="4389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7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6334" r="0" b="-2463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6751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EDGE-FIRST • FLEET-SCALE • GIS-NATIVE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4380" y="7776837"/>
            <a:ext cx="9971116" cy="675209"/>
            <a:chOff x="0" y="0"/>
            <a:chExt cx="11612880" cy="7863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12880" cy="786384"/>
            </a:xfrm>
            <a:custGeom>
              <a:avLst/>
              <a:gdLst/>
              <a:ahLst/>
              <a:cxnLst/>
              <a:rect r="r" b="b" t="t" l="l"/>
              <a:pathLst>
                <a:path h="786384" w="11612880">
                  <a:moveTo>
                    <a:pt x="0" y="0"/>
                  </a:moveTo>
                  <a:lnTo>
                    <a:pt x="11612880" y="0"/>
                  </a:lnTo>
                  <a:lnTo>
                    <a:pt x="1161288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7744" r="0" b="-2377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61288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C1115"/>
                  </a:solidFill>
                  <a:latin typeface="Aptos"/>
                  <a:ea typeface="Aptos"/>
                  <a:cs typeface="Aptos"/>
                  <a:sym typeface="Aptos"/>
                </a:rPr>
                <a:t>Turn every bus trip into a continuous stream of road, traffic &amp; safety intelligence.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ROADPULSE | Mobile Urban Intelligence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Rolling Census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326992" y="8583730"/>
            <a:ext cx="5379039" cy="769098"/>
            <a:chOff x="0" y="0"/>
            <a:chExt cx="7172052" cy="10254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72051" cy="1025463"/>
            </a:xfrm>
            <a:custGeom>
              <a:avLst/>
              <a:gdLst/>
              <a:ahLst/>
              <a:cxnLst/>
              <a:rect r="r" b="b" t="t" l="l"/>
              <a:pathLst>
                <a:path h="1025463" w="7172051">
                  <a:moveTo>
                    <a:pt x="0" y="0"/>
                  </a:moveTo>
                  <a:lnTo>
                    <a:pt x="7172051" y="0"/>
                  </a:lnTo>
                  <a:lnTo>
                    <a:pt x="7172051" y="1025463"/>
                  </a:lnTo>
                  <a:lnTo>
                    <a:pt x="0" y="10254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066" r="-203437" b="-35096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172052" cy="1025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From static surveillance → 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living, continuously updated city map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326992" y="3290238"/>
            <a:ext cx="5039340" cy="5039340"/>
            <a:chOff x="0" y="0"/>
            <a:chExt cx="7980680" cy="7980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80680" cy="7980680"/>
            </a:xfrm>
            <a:custGeom>
              <a:avLst/>
              <a:gdLst/>
              <a:ahLst/>
              <a:cxnLst/>
              <a:rect r="r" b="b" t="t" l="l"/>
              <a:pathLst>
                <a:path h="7980680" w="7980680">
                  <a:moveTo>
                    <a:pt x="0" y="1330198"/>
                  </a:moveTo>
                  <a:cubicBezTo>
                    <a:pt x="0" y="595503"/>
                    <a:pt x="595503" y="0"/>
                    <a:pt x="1330198" y="0"/>
                  </a:cubicBezTo>
                  <a:lnTo>
                    <a:pt x="6650482" y="0"/>
                  </a:lnTo>
                  <a:cubicBezTo>
                    <a:pt x="7385177" y="0"/>
                    <a:pt x="7980680" y="595503"/>
                    <a:pt x="7980680" y="1330198"/>
                  </a:cubicBezTo>
                  <a:lnTo>
                    <a:pt x="7980680" y="6650482"/>
                  </a:lnTo>
                  <a:cubicBezTo>
                    <a:pt x="7980680" y="7385050"/>
                    <a:pt x="7385177" y="7980680"/>
                    <a:pt x="6650482" y="7980680"/>
                  </a:cubicBezTo>
                  <a:lnTo>
                    <a:pt x="1330198" y="7980680"/>
                  </a:lnTo>
                  <a:cubicBezTo>
                    <a:pt x="595503" y="7980680"/>
                    <a:pt x="0" y="7385177"/>
                    <a:pt x="0" y="6650482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1414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589063" y="3506118"/>
            <a:ext cx="2540520" cy="288696"/>
            <a:chOff x="0" y="0"/>
            <a:chExt cx="4023360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0" cy="457200"/>
            </a:xfrm>
            <a:custGeom>
              <a:avLst/>
              <a:gdLst/>
              <a:ahLst/>
              <a:cxnLst/>
              <a:rect r="r" b="b" t="t" l="l"/>
              <a:pathLst>
                <a:path h="4572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0233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7E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MOBILE SENSING BUS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881287" y="4121681"/>
            <a:ext cx="3826819" cy="2002264"/>
            <a:chOff x="0" y="0"/>
            <a:chExt cx="6060440" cy="31709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60440" cy="3170936"/>
            </a:xfrm>
            <a:custGeom>
              <a:avLst/>
              <a:gdLst/>
              <a:ahLst/>
              <a:cxnLst/>
              <a:rect r="r" b="b" t="t" l="l"/>
              <a:pathLst>
                <a:path h="3170936" w="6060440">
                  <a:moveTo>
                    <a:pt x="0" y="528447"/>
                  </a:moveTo>
                  <a:cubicBezTo>
                    <a:pt x="0" y="236601"/>
                    <a:pt x="236601" y="0"/>
                    <a:pt x="528447" y="0"/>
                  </a:cubicBezTo>
                  <a:lnTo>
                    <a:pt x="5531993" y="0"/>
                  </a:lnTo>
                  <a:cubicBezTo>
                    <a:pt x="5823839" y="0"/>
                    <a:pt x="6060440" y="236601"/>
                    <a:pt x="6060440" y="528447"/>
                  </a:cubicBezTo>
                  <a:lnTo>
                    <a:pt x="6060440" y="2642489"/>
                  </a:lnTo>
                  <a:cubicBezTo>
                    <a:pt x="6060440" y="2934335"/>
                    <a:pt x="5823839" y="3170936"/>
                    <a:pt x="5531993" y="3170936"/>
                  </a:cubicBezTo>
                  <a:lnTo>
                    <a:pt x="528447" y="3170936"/>
                  </a:lnTo>
                  <a:cubicBezTo>
                    <a:pt x="236601" y="3170936"/>
                    <a:pt x="0" y="2934335"/>
                    <a:pt x="0" y="2642489"/>
                  </a:cubicBezTo>
                  <a:close/>
                </a:path>
              </a:pathLst>
            </a:custGeom>
            <a:solidFill>
              <a:srgbClr val="273239"/>
            </a:solidFill>
            <a:ln w="19050" cap="sq">
              <a:solidFill>
                <a:srgbClr val="56687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120263" y="4360657"/>
            <a:ext cx="1316451" cy="773704"/>
            <a:chOff x="0" y="0"/>
            <a:chExt cx="2084832" cy="12252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84832" cy="1225296"/>
            </a:xfrm>
            <a:custGeom>
              <a:avLst/>
              <a:gdLst/>
              <a:ahLst/>
              <a:cxnLst/>
              <a:rect r="r" b="b" t="t" l="l"/>
              <a:pathLst>
                <a:path h="1225296" w="2084832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880616" y="0"/>
                  </a:lnTo>
                  <a:cubicBezTo>
                    <a:pt x="1993392" y="0"/>
                    <a:pt x="2084832" y="91440"/>
                    <a:pt x="2084832" y="204216"/>
                  </a:cubicBezTo>
                  <a:lnTo>
                    <a:pt x="2084832" y="1021080"/>
                  </a:lnTo>
                  <a:cubicBezTo>
                    <a:pt x="2084832" y="1133856"/>
                    <a:pt x="1993392" y="1225296"/>
                    <a:pt x="1880616" y="1225296"/>
                  </a:cubicBezTo>
                  <a:lnTo>
                    <a:pt x="204216" y="1225296"/>
                  </a:lnTo>
                  <a:cubicBezTo>
                    <a:pt x="91440" y="1225296"/>
                    <a:pt x="0" y="1133856"/>
                    <a:pt x="0" y="1021080"/>
                  </a:cubicBezTo>
                  <a:close/>
                </a:path>
              </a:pathLst>
            </a:custGeom>
            <a:solidFill>
              <a:srgbClr val="39475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552193" y="4360657"/>
            <a:ext cx="1316451" cy="773704"/>
            <a:chOff x="0" y="0"/>
            <a:chExt cx="2084832" cy="12252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84832" cy="1225296"/>
            </a:xfrm>
            <a:custGeom>
              <a:avLst/>
              <a:gdLst/>
              <a:ahLst/>
              <a:cxnLst/>
              <a:rect r="r" b="b" t="t" l="l"/>
              <a:pathLst>
                <a:path h="1225296" w="2084832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880616" y="0"/>
                  </a:lnTo>
                  <a:cubicBezTo>
                    <a:pt x="1993392" y="0"/>
                    <a:pt x="2084832" y="91440"/>
                    <a:pt x="2084832" y="204216"/>
                  </a:cubicBezTo>
                  <a:lnTo>
                    <a:pt x="2084832" y="1021080"/>
                  </a:lnTo>
                  <a:cubicBezTo>
                    <a:pt x="2084832" y="1133856"/>
                    <a:pt x="1993392" y="1225296"/>
                    <a:pt x="1880616" y="1225296"/>
                  </a:cubicBezTo>
                  <a:lnTo>
                    <a:pt x="204216" y="1225296"/>
                  </a:lnTo>
                  <a:cubicBezTo>
                    <a:pt x="91440" y="1225296"/>
                    <a:pt x="0" y="1133856"/>
                    <a:pt x="0" y="1021080"/>
                  </a:cubicBezTo>
                  <a:close/>
                </a:path>
              </a:pathLst>
            </a:custGeom>
            <a:solidFill>
              <a:srgbClr val="3947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84123" y="4360657"/>
            <a:ext cx="461913" cy="773704"/>
            <a:chOff x="0" y="0"/>
            <a:chExt cx="731520" cy="12252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225296"/>
            </a:xfrm>
            <a:custGeom>
              <a:avLst/>
              <a:gdLst/>
              <a:ahLst/>
              <a:cxnLst/>
              <a:rect r="r" b="b" t="t" l="l"/>
              <a:pathLst>
                <a:path h="1225296" w="731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09600" y="0"/>
                  </a:lnTo>
                  <a:cubicBezTo>
                    <a:pt x="676910" y="0"/>
                    <a:pt x="731520" y="54610"/>
                    <a:pt x="731520" y="121920"/>
                  </a:cubicBezTo>
                  <a:lnTo>
                    <a:pt x="731520" y="1103376"/>
                  </a:lnTo>
                  <a:cubicBezTo>
                    <a:pt x="731520" y="1170686"/>
                    <a:pt x="676910" y="1225296"/>
                    <a:pt x="609600" y="1225296"/>
                  </a:cubicBezTo>
                  <a:lnTo>
                    <a:pt x="121920" y="1225296"/>
                  </a:lnTo>
                  <a:cubicBezTo>
                    <a:pt x="54610" y="1225296"/>
                    <a:pt x="0" y="1170686"/>
                    <a:pt x="0" y="1103376"/>
                  </a:cubicBezTo>
                  <a:close/>
                </a:path>
              </a:pathLst>
            </a:custGeom>
            <a:solidFill>
              <a:srgbClr val="39475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224194" y="5723300"/>
            <a:ext cx="519652" cy="519652"/>
            <a:chOff x="0" y="0"/>
            <a:chExt cx="822960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C111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787810" y="5723300"/>
            <a:ext cx="519652" cy="519652"/>
            <a:chOff x="0" y="0"/>
            <a:chExt cx="82296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C111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027881" y="3991127"/>
            <a:ext cx="254052" cy="254052"/>
            <a:chOff x="0" y="0"/>
            <a:chExt cx="402336" cy="402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71358" y="3898744"/>
            <a:ext cx="254052" cy="254052"/>
            <a:chOff x="0" y="0"/>
            <a:chExt cx="402336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891740" y="3991127"/>
            <a:ext cx="254052" cy="254052"/>
            <a:chOff x="0" y="0"/>
            <a:chExt cx="402336" cy="4023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53896" y="5053526"/>
            <a:ext cx="254052" cy="254052"/>
            <a:chOff x="0" y="0"/>
            <a:chExt cx="402336" cy="4023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581044" y="6696845"/>
            <a:ext cx="882125" cy="362473"/>
            <a:chOff x="0" y="0"/>
            <a:chExt cx="1397000" cy="574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97000" cy="574040"/>
            </a:xfrm>
            <a:custGeom>
              <a:avLst/>
              <a:gdLst/>
              <a:ahLst/>
              <a:cxnLst/>
              <a:rect r="r" b="b" t="t" l="l"/>
              <a:pathLst>
                <a:path h="574040" w="1397000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1301242" y="0"/>
                  </a:lnTo>
                  <a:cubicBezTo>
                    <a:pt x="1354201" y="0"/>
                    <a:pt x="1397000" y="42799"/>
                    <a:pt x="1397000" y="95631"/>
                  </a:cubicBezTo>
                  <a:lnTo>
                    <a:pt x="1397000" y="478409"/>
                  </a:lnTo>
                  <a:cubicBezTo>
                    <a:pt x="1397000" y="531241"/>
                    <a:pt x="1354201" y="574040"/>
                    <a:pt x="1301369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D2A31"/>
            </a:solidFill>
            <a:ln w="19050" cap="sq">
              <a:solidFill>
                <a:srgbClr val="374B5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3646803" y="6716412"/>
            <a:ext cx="750608" cy="288696"/>
            <a:chOff x="0" y="0"/>
            <a:chExt cx="1188720" cy="457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88720" cy="457200"/>
            </a:xfrm>
            <a:custGeom>
              <a:avLst/>
              <a:gdLst/>
              <a:ahLst/>
              <a:cxnLst/>
              <a:rect r="r" b="b" t="t" l="l"/>
              <a:pathLst>
                <a:path h="45720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1887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ROAD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574157" y="6696845"/>
            <a:ext cx="1113082" cy="362473"/>
            <a:chOff x="0" y="0"/>
            <a:chExt cx="1762760" cy="5740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62760" cy="574040"/>
            </a:xfrm>
            <a:custGeom>
              <a:avLst/>
              <a:gdLst/>
              <a:ahLst/>
              <a:cxnLst/>
              <a:rect r="r" b="b" t="t" l="l"/>
              <a:pathLst>
                <a:path h="574040" w="1762760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1667129" y="0"/>
                  </a:lnTo>
                  <a:cubicBezTo>
                    <a:pt x="1719961" y="0"/>
                    <a:pt x="1762760" y="42799"/>
                    <a:pt x="1762760" y="95631"/>
                  </a:cubicBezTo>
                  <a:lnTo>
                    <a:pt x="1762760" y="478409"/>
                  </a:lnTo>
                  <a:cubicBezTo>
                    <a:pt x="1762760" y="531241"/>
                    <a:pt x="1719961" y="574040"/>
                    <a:pt x="1667129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D2A31"/>
            </a:solidFill>
            <a:ln w="19050" cap="sq">
              <a:solidFill>
                <a:srgbClr val="374B54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4639915" y="6716412"/>
            <a:ext cx="981565" cy="288696"/>
            <a:chOff x="0" y="0"/>
            <a:chExt cx="1554480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5448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544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TRAFFIC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832869" y="6696845"/>
            <a:ext cx="1009151" cy="362473"/>
            <a:chOff x="0" y="0"/>
            <a:chExt cx="1598168" cy="574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98168" cy="574040"/>
            </a:xfrm>
            <a:custGeom>
              <a:avLst/>
              <a:gdLst/>
              <a:ahLst/>
              <a:cxnLst/>
              <a:rect r="r" b="b" t="t" l="l"/>
              <a:pathLst>
                <a:path h="574040" w="1598168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1502537" y="0"/>
                  </a:lnTo>
                  <a:cubicBezTo>
                    <a:pt x="1555369" y="0"/>
                    <a:pt x="1598168" y="42799"/>
                    <a:pt x="1598168" y="95631"/>
                  </a:cubicBezTo>
                  <a:lnTo>
                    <a:pt x="1598168" y="478409"/>
                  </a:lnTo>
                  <a:cubicBezTo>
                    <a:pt x="1598168" y="531241"/>
                    <a:pt x="1555369" y="574040"/>
                    <a:pt x="1502537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D2A31"/>
            </a:solidFill>
            <a:ln w="19050" cap="sq">
              <a:solidFill>
                <a:srgbClr val="374B5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898627" y="6716412"/>
            <a:ext cx="877634" cy="288696"/>
            <a:chOff x="0" y="0"/>
            <a:chExt cx="1389888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89888" cy="457200"/>
            </a:xfrm>
            <a:custGeom>
              <a:avLst/>
              <a:gdLst/>
              <a:ahLst/>
              <a:cxnLst/>
              <a:rect r="r" b="b" t="t" l="l"/>
              <a:pathLst>
                <a:path h="457200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4" r="0" b="-923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38988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SAFETY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987651" y="6696845"/>
            <a:ext cx="651169" cy="362473"/>
            <a:chOff x="0" y="0"/>
            <a:chExt cx="1031240" cy="574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31240" cy="574040"/>
            </a:xfrm>
            <a:custGeom>
              <a:avLst/>
              <a:gdLst/>
              <a:ahLst/>
              <a:cxnLst/>
              <a:rect r="r" b="b" t="t" l="l"/>
              <a:pathLst>
                <a:path h="574040" w="1031240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935609" y="0"/>
                  </a:lnTo>
                  <a:cubicBezTo>
                    <a:pt x="988441" y="0"/>
                    <a:pt x="1031240" y="42799"/>
                    <a:pt x="1031240" y="95631"/>
                  </a:cubicBezTo>
                  <a:lnTo>
                    <a:pt x="1031240" y="478409"/>
                  </a:lnTo>
                  <a:cubicBezTo>
                    <a:pt x="1031240" y="531241"/>
                    <a:pt x="988441" y="574040"/>
                    <a:pt x="935609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D2A31"/>
            </a:solidFill>
            <a:ln w="19050" cap="sq">
              <a:solidFill>
                <a:srgbClr val="374B5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7053409" y="6716412"/>
            <a:ext cx="519652" cy="288696"/>
            <a:chOff x="0" y="0"/>
            <a:chExt cx="822960" cy="457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57200"/>
            </a:xfrm>
            <a:custGeom>
              <a:avLst/>
              <a:gdLst/>
              <a:ahLst/>
              <a:cxnLst/>
              <a:rect r="r" b="b" t="t" l="l"/>
              <a:pathLst>
                <a:path h="4572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GPS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623707" y="7316899"/>
            <a:ext cx="4295789" cy="600487"/>
            <a:chOff x="0" y="0"/>
            <a:chExt cx="6803136" cy="9509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03136" cy="950976"/>
            </a:xfrm>
            <a:custGeom>
              <a:avLst/>
              <a:gdLst/>
              <a:ahLst/>
              <a:cxnLst/>
              <a:rect r="r" b="b" t="t" l="l"/>
              <a:pathLst>
                <a:path h="950976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392" r="0" b="-8939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680313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Edge AI runs locally; only useful evidence is sent upstream.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836133" y="3212467"/>
            <a:ext cx="9208770" cy="1220882"/>
            <a:chOff x="0" y="0"/>
            <a:chExt cx="12278360" cy="162784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278360" cy="1627721"/>
            </a:xfrm>
            <a:custGeom>
              <a:avLst/>
              <a:gdLst/>
              <a:ahLst/>
              <a:cxnLst/>
              <a:rect r="r" b="b" t="t" l="l"/>
              <a:pathLst>
                <a:path h="1627721" w="12278360">
                  <a:moveTo>
                    <a:pt x="0" y="271267"/>
                  </a:moveTo>
                  <a:cubicBezTo>
                    <a:pt x="0" y="121410"/>
                    <a:pt x="127381" y="0"/>
                    <a:pt x="284607" y="0"/>
                  </a:cubicBezTo>
                  <a:lnTo>
                    <a:pt x="11993753" y="0"/>
                  </a:lnTo>
                  <a:cubicBezTo>
                    <a:pt x="12150979" y="0"/>
                    <a:pt x="12278360" y="121410"/>
                    <a:pt x="12278360" y="271267"/>
                  </a:cubicBezTo>
                  <a:lnTo>
                    <a:pt x="12278360" y="1356455"/>
                  </a:lnTo>
                  <a:cubicBezTo>
                    <a:pt x="12278360" y="1506311"/>
                    <a:pt x="12150979" y="1627721"/>
                    <a:pt x="11993753" y="1627721"/>
                  </a:cubicBezTo>
                  <a:lnTo>
                    <a:pt x="284607" y="1627721"/>
                  </a:lnTo>
                  <a:cubicBezTo>
                    <a:pt x="127381" y="1627842"/>
                    <a:pt x="0" y="1506432"/>
                    <a:pt x="0" y="1356576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2C3A4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092546" y="3404569"/>
            <a:ext cx="658368" cy="627509"/>
            <a:chOff x="0" y="0"/>
            <a:chExt cx="877824" cy="83667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7824" cy="836678"/>
            </a:xfrm>
            <a:custGeom>
              <a:avLst/>
              <a:gdLst/>
              <a:ahLst/>
              <a:cxnLst/>
              <a:rect r="r" b="b" t="t" l="l"/>
              <a:pathLst>
                <a:path h="836678" w="877824">
                  <a:moveTo>
                    <a:pt x="0" y="418339"/>
                  </a:moveTo>
                  <a:cubicBezTo>
                    <a:pt x="0" y="187260"/>
                    <a:pt x="196469" y="0"/>
                    <a:pt x="438912" y="0"/>
                  </a:cubicBezTo>
                  <a:cubicBezTo>
                    <a:pt x="681355" y="0"/>
                    <a:pt x="877824" y="187260"/>
                    <a:pt x="877824" y="418339"/>
                  </a:cubicBezTo>
                  <a:cubicBezTo>
                    <a:pt x="877824" y="649418"/>
                    <a:pt x="681355" y="836678"/>
                    <a:pt x="438912" y="836678"/>
                  </a:cubicBezTo>
                  <a:cubicBezTo>
                    <a:pt x="196469" y="836678"/>
                    <a:pt x="0" y="649418"/>
                    <a:pt x="0" y="418339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092546" y="3404569"/>
            <a:ext cx="658368" cy="627509"/>
            <a:chOff x="0" y="0"/>
            <a:chExt cx="877824" cy="83667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" cy="836678"/>
            </a:xfrm>
            <a:custGeom>
              <a:avLst/>
              <a:gdLst/>
              <a:ahLst/>
              <a:cxnLst/>
              <a:rect r="r" b="b" t="t" l="l"/>
              <a:pathLst>
                <a:path h="83667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36678"/>
                  </a:lnTo>
                  <a:lnTo>
                    <a:pt x="0" y="83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-491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877824" cy="846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915506" y="3352277"/>
            <a:ext cx="3497580" cy="287608"/>
            <a:chOff x="0" y="0"/>
            <a:chExt cx="4663440" cy="38347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63440" cy="383477"/>
            </a:xfrm>
            <a:custGeom>
              <a:avLst/>
              <a:gdLst/>
              <a:ahLst/>
              <a:cxnLst/>
              <a:rect r="r" b="b" t="t" l="l"/>
              <a:pathLst>
                <a:path h="38347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383477"/>
                  </a:lnTo>
                  <a:lnTo>
                    <a:pt x="0" y="3834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97" r="0" b="-18941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4663440" cy="383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SENSE ON THE MOVE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915506" y="3652958"/>
            <a:ext cx="7612380" cy="261462"/>
            <a:chOff x="0" y="0"/>
            <a:chExt cx="10149840" cy="3486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149840" cy="348616"/>
            </a:xfrm>
            <a:custGeom>
              <a:avLst/>
              <a:gdLst/>
              <a:ahLst/>
              <a:cxnLst/>
              <a:rect r="r" b="b" t="t" l="l"/>
              <a:pathLst>
                <a:path h="34861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348616"/>
                  </a:lnTo>
                  <a:lnTo>
                    <a:pt x="0" y="348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4841" r="0" b="-51975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0149840" cy="358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FF7E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Multi-camera video + GPS + route context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915506" y="3940566"/>
            <a:ext cx="7612380" cy="326827"/>
            <a:chOff x="0" y="0"/>
            <a:chExt cx="10149840" cy="4357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149840" cy="435770"/>
            </a:xfrm>
            <a:custGeom>
              <a:avLst/>
              <a:gdLst/>
              <a:ahLst/>
              <a:cxnLst/>
              <a:rect r="r" b="b" t="t" l="l"/>
              <a:pathLst>
                <a:path h="43577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435770"/>
                  </a:lnTo>
                  <a:lnTo>
                    <a:pt x="0" y="435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381" r="0" b="-40629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10149840" cy="445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Every trip becomes a repeatable road, traffic &amp; safety observation.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836133" y="4611288"/>
            <a:ext cx="9208770" cy="1220882"/>
            <a:chOff x="0" y="0"/>
            <a:chExt cx="12278360" cy="162784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278360" cy="1627721"/>
            </a:xfrm>
            <a:custGeom>
              <a:avLst/>
              <a:gdLst/>
              <a:ahLst/>
              <a:cxnLst/>
              <a:rect r="r" b="b" t="t" l="l"/>
              <a:pathLst>
                <a:path h="1627721" w="12278360">
                  <a:moveTo>
                    <a:pt x="0" y="271267"/>
                  </a:moveTo>
                  <a:cubicBezTo>
                    <a:pt x="0" y="121410"/>
                    <a:pt x="127381" y="0"/>
                    <a:pt x="284607" y="0"/>
                  </a:cubicBezTo>
                  <a:lnTo>
                    <a:pt x="11993753" y="0"/>
                  </a:lnTo>
                  <a:cubicBezTo>
                    <a:pt x="12150979" y="0"/>
                    <a:pt x="12278360" y="121410"/>
                    <a:pt x="12278360" y="271267"/>
                  </a:cubicBezTo>
                  <a:lnTo>
                    <a:pt x="12278360" y="1356455"/>
                  </a:lnTo>
                  <a:cubicBezTo>
                    <a:pt x="12278360" y="1506311"/>
                    <a:pt x="12150979" y="1627721"/>
                    <a:pt x="11993753" y="1627721"/>
                  </a:cubicBezTo>
                  <a:lnTo>
                    <a:pt x="284607" y="1627721"/>
                  </a:lnTo>
                  <a:cubicBezTo>
                    <a:pt x="127381" y="1627842"/>
                    <a:pt x="0" y="1506432"/>
                    <a:pt x="0" y="1356576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2C3A4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9092546" y="4803390"/>
            <a:ext cx="658368" cy="627509"/>
            <a:chOff x="0" y="0"/>
            <a:chExt cx="877824" cy="83667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7824" cy="836678"/>
            </a:xfrm>
            <a:custGeom>
              <a:avLst/>
              <a:gdLst/>
              <a:ahLst/>
              <a:cxnLst/>
              <a:rect r="r" b="b" t="t" l="l"/>
              <a:pathLst>
                <a:path h="836678" w="877824">
                  <a:moveTo>
                    <a:pt x="0" y="418339"/>
                  </a:moveTo>
                  <a:cubicBezTo>
                    <a:pt x="0" y="187260"/>
                    <a:pt x="196469" y="0"/>
                    <a:pt x="438912" y="0"/>
                  </a:cubicBezTo>
                  <a:cubicBezTo>
                    <a:pt x="681355" y="0"/>
                    <a:pt x="877824" y="187260"/>
                    <a:pt x="877824" y="418339"/>
                  </a:cubicBezTo>
                  <a:cubicBezTo>
                    <a:pt x="877824" y="649418"/>
                    <a:pt x="681355" y="836678"/>
                    <a:pt x="438912" y="836678"/>
                  </a:cubicBezTo>
                  <a:cubicBezTo>
                    <a:pt x="196469" y="836678"/>
                    <a:pt x="0" y="649418"/>
                    <a:pt x="0" y="418339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092546" y="4803390"/>
            <a:ext cx="658368" cy="627509"/>
            <a:chOff x="0" y="0"/>
            <a:chExt cx="877824" cy="83667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7824" cy="836678"/>
            </a:xfrm>
            <a:custGeom>
              <a:avLst/>
              <a:gdLst/>
              <a:ahLst/>
              <a:cxnLst/>
              <a:rect r="r" b="b" t="t" l="l"/>
              <a:pathLst>
                <a:path h="83667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36678"/>
                  </a:lnTo>
                  <a:lnTo>
                    <a:pt x="0" y="83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-491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877824" cy="846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915506" y="4751098"/>
            <a:ext cx="3497580" cy="287608"/>
            <a:chOff x="0" y="0"/>
            <a:chExt cx="4663440" cy="38347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663440" cy="383477"/>
            </a:xfrm>
            <a:custGeom>
              <a:avLst/>
              <a:gdLst/>
              <a:ahLst/>
              <a:cxnLst/>
              <a:rect r="r" b="b" t="t" l="l"/>
              <a:pathLst>
                <a:path h="38347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383477"/>
                  </a:lnTo>
                  <a:lnTo>
                    <a:pt x="0" y="3834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97" r="0" b="-18941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4663440" cy="383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THINK AT THE EDGE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915506" y="5051779"/>
            <a:ext cx="7612380" cy="261462"/>
            <a:chOff x="0" y="0"/>
            <a:chExt cx="10149840" cy="34861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149840" cy="348616"/>
            </a:xfrm>
            <a:custGeom>
              <a:avLst/>
              <a:gdLst/>
              <a:ahLst/>
              <a:cxnLst/>
              <a:rect r="r" b="b" t="t" l="l"/>
              <a:pathLst>
                <a:path h="34861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348616"/>
                  </a:lnTo>
                  <a:lnTo>
                    <a:pt x="0" y="348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4841" r="0" b="-51975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10149840" cy="358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15A0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Detection • tracking • OCR • event scoring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915506" y="5339387"/>
            <a:ext cx="7612380" cy="326827"/>
            <a:chOff x="0" y="0"/>
            <a:chExt cx="10149840" cy="43577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149840" cy="435770"/>
            </a:xfrm>
            <a:custGeom>
              <a:avLst/>
              <a:gdLst/>
              <a:ahLst/>
              <a:cxnLst/>
              <a:rect r="r" b="b" t="t" l="l"/>
              <a:pathLst>
                <a:path h="43577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435770"/>
                  </a:lnTo>
                  <a:lnTo>
                    <a:pt x="0" y="435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381" r="0" b="-40629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10149840" cy="445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Road defects • density • vulnerable pedestrians • rash driving • ANPR.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836133" y="6010110"/>
            <a:ext cx="9208770" cy="1220882"/>
            <a:chOff x="0" y="0"/>
            <a:chExt cx="12278360" cy="162784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278360" cy="1627721"/>
            </a:xfrm>
            <a:custGeom>
              <a:avLst/>
              <a:gdLst/>
              <a:ahLst/>
              <a:cxnLst/>
              <a:rect r="r" b="b" t="t" l="l"/>
              <a:pathLst>
                <a:path h="1627721" w="12278360">
                  <a:moveTo>
                    <a:pt x="0" y="271267"/>
                  </a:moveTo>
                  <a:cubicBezTo>
                    <a:pt x="0" y="121410"/>
                    <a:pt x="127381" y="0"/>
                    <a:pt x="284607" y="0"/>
                  </a:cubicBezTo>
                  <a:lnTo>
                    <a:pt x="11993753" y="0"/>
                  </a:lnTo>
                  <a:cubicBezTo>
                    <a:pt x="12150979" y="0"/>
                    <a:pt x="12278360" y="121410"/>
                    <a:pt x="12278360" y="271267"/>
                  </a:cubicBezTo>
                  <a:lnTo>
                    <a:pt x="12278360" y="1356455"/>
                  </a:lnTo>
                  <a:cubicBezTo>
                    <a:pt x="12278360" y="1506311"/>
                    <a:pt x="12150979" y="1627721"/>
                    <a:pt x="11993753" y="1627721"/>
                  </a:cubicBezTo>
                  <a:lnTo>
                    <a:pt x="284607" y="1627721"/>
                  </a:lnTo>
                  <a:cubicBezTo>
                    <a:pt x="127381" y="1627842"/>
                    <a:pt x="0" y="1506432"/>
                    <a:pt x="0" y="1356576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2C3A42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092546" y="6202211"/>
            <a:ext cx="658368" cy="627509"/>
            <a:chOff x="0" y="0"/>
            <a:chExt cx="877824" cy="83667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77824" cy="836678"/>
            </a:xfrm>
            <a:custGeom>
              <a:avLst/>
              <a:gdLst/>
              <a:ahLst/>
              <a:cxnLst/>
              <a:rect r="r" b="b" t="t" l="l"/>
              <a:pathLst>
                <a:path h="836678" w="877824">
                  <a:moveTo>
                    <a:pt x="0" y="418339"/>
                  </a:moveTo>
                  <a:cubicBezTo>
                    <a:pt x="0" y="187260"/>
                    <a:pt x="196469" y="0"/>
                    <a:pt x="438912" y="0"/>
                  </a:cubicBezTo>
                  <a:cubicBezTo>
                    <a:pt x="681355" y="0"/>
                    <a:pt x="877824" y="187260"/>
                    <a:pt x="877824" y="418339"/>
                  </a:cubicBezTo>
                  <a:cubicBezTo>
                    <a:pt x="877824" y="649418"/>
                    <a:pt x="681355" y="836678"/>
                    <a:pt x="438912" y="836678"/>
                  </a:cubicBezTo>
                  <a:cubicBezTo>
                    <a:pt x="196469" y="836678"/>
                    <a:pt x="0" y="649418"/>
                    <a:pt x="0" y="418339"/>
                  </a:cubicBezTo>
                  <a:close/>
                </a:path>
              </a:pathLst>
            </a:custGeom>
            <a:solidFill>
              <a:srgbClr val="37B9AA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092546" y="6202211"/>
            <a:ext cx="658368" cy="627509"/>
            <a:chOff x="0" y="0"/>
            <a:chExt cx="877824" cy="83667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77824" cy="836678"/>
            </a:xfrm>
            <a:custGeom>
              <a:avLst/>
              <a:gdLst/>
              <a:ahLst/>
              <a:cxnLst/>
              <a:rect r="r" b="b" t="t" l="l"/>
              <a:pathLst>
                <a:path h="83667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36678"/>
                  </a:lnTo>
                  <a:lnTo>
                    <a:pt x="0" y="83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-491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877824" cy="846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915506" y="6149919"/>
            <a:ext cx="3497580" cy="287608"/>
            <a:chOff x="0" y="0"/>
            <a:chExt cx="4663440" cy="38347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663440" cy="383477"/>
            </a:xfrm>
            <a:custGeom>
              <a:avLst/>
              <a:gdLst/>
              <a:ahLst/>
              <a:cxnLst/>
              <a:rect r="r" b="b" t="t" l="l"/>
              <a:pathLst>
                <a:path h="38347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383477"/>
                  </a:lnTo>
                  <a:lnTo>
                    <a:pt x="0" y="3834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97" r="0" b="-18941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4663440" cy="383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FUSE FLEET-WIDE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915506" y="6450600"/>
            <a:ext cx="7612380" cy="261462"/>
            <a:chOff x="0" y="0"/>
            <a:chExt cx="10149840" cy="34861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149840" cy="348616"/>
            </a:xfrm>
            <a:custGeom>
              <a:avLst/>
              <a:gdLst/>
              <a:ahLst/>
              <a:cxnLst/>
              <a:rect r="r" b="b" t="t" l="l"/>
              <a:pathLst>
                <a:path h="34861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348616"/>
                  </a:lnTo>
                  <a:lnTo>
                    <a:pt x="0" y="348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4841" r="0" b="-519759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10149840" cy="358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37B9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Map-match • deduplicate • correlate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915506" y="6738208"/>
            <a:ext cx="7612380" cy="326827"/>
            <a:chOff x="0" y="0"/>
            <a:chExt cx="10149840" cy="43577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149840" cy="435770"/>
            </a:xfrm>
            <a:custGeom>
              <a:avLst/>
              <a:gdLst/>
              <a:ahLst/>
              <a:cxnLst/>
              <a:rect r="r" b="b" t="t" l="l"/>
              <a:pathLst>
                <a:path h="43577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435770"/>
                  </a:lnTo>
                  <a:lnTo>
                    <a:pt x="0" y="435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381" r="0" b="-40629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10149840" cy="445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De-duplicate repeated sightings; confidence grows with independent buses.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8836133" y="7408931"/>
            <a:ext cx="9208770" cy="1220882"/>
            <a:chOff x="0" y="0"/>
            <a:chExt cx="12278360" cy="162784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2278360" cy="1627721"/>
            </a:xfrm>
            <a:custGeom>
              <a:avLst/>
              <a:gdLst/>
              <a:ahLst/>
              <a:cxnLst/>
              <a:rect r="r" b="b" t="t" l="l"/>
              <a:pathLst>
                <a:path h="1627721" w="12278360">
                  <a:moveTo>
                    <a:pt x="0" y="271267"/>
                  </a:moveTo>
                  <a:cubicBezTo>
                    <a:pt x="0" y="121410"/>
                    <a:pt x="127381" y="0"/>
                    <a:pt x="284607" y="0"/>
                  </a:cubicBezTo>
                  <a:lnTo>
                    <a:pt x="11993753" y="0"/>
                  </a:lnTo>
                  <a:cubicBezTo>
                    <a:pt x="12150979" y="0"/>
                    <a:pt x="12278360" y="121410"/>
                    <a:pt x="12278360" y="271267"/>
                  </a:cubicBezTo>
                  <a:lnTo>
                    <a:pt x="12278360" y="1356455"/>
                  </a:lnTo>
                  <a:cubicBezTo>
                    <a:pt x="12278360" y="1506311"/>
                    <a:pt x="12150979" y="1627721"/>
                    <a:pt x="11993753" y="1627721"/>
                  </a:cubicBezTo>
                  <a:lnTo>
                    <a:pt x="284607" y="1627721"/>
                  </a:lnTo>
                  <a:cubicBezTo>
                    <a:pt x="127381" y="1627842"/>
                    <a:pt x="0" y="1506432"/>
                    <a:pt x="0" y="1356576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2C3A42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9092546" y="7601033"/>
            <a:ext cx="658368" cy="627509"/>
            <a:chOff x="0" y="0"/>
            <a:chExt cx="877824" cy="83667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77824" cy="836678"/>
            </a:xfrm>
            <a:custGeom>
              <a:avLst/>
              <a:gdLst/>
              <a:ahLst/>
              <a:cxnLst/>
              <a:rect r="r" b="b" t="t" l="l"/>
              <a:pathLst>
                <a:path h="836678" w="877824">
                  <a:moveTo>
                    <a:pt x="0" y="418339"/>
                  </a:moveTo>
                  <a:cubicBezTo>
                    <a:pt x="0" y="187260"/>
                    <a:pt x="196469" y="0"/>
                    <a:pt x="438912" y="0"/>
                  </a:cubicBezTo>
                  <a:cubicBezTo>
                    <a:pt x="681355" y="0"/>
                    <a:pt x="877824" y="187260"/>
                    <a:pt x="877824" y="418339"/>
                  </a:cubicBezTo>
                  <a:cubicBezTo>
                    <a:pt x="877824" y="649418"/>
                    <a:pt x="681355" y="836678"/>
                    <a:pt x="438912" y="836678"/>
                  </a:cubicBezTo>
                  <a:cubicBezTo>
                    <a:pt x="196469" y="836678"/>
                    <a:pt x="0" y="649418"/>
                    <a:pt x="0" y="418339"/>
                  </a:cubicBezTo>
                  <a:close/>
                </a:path>
              </a:pathLst>
            </a:custGeom>
            <a:solidFill>
              <a:srgbClr val="4C91DC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092546" y="7601033"/>
            <a:ext cx="658368" cy="627509"/>
            <a:chOff x="0" y="0"/>
            <a:chExt cx="877824" cy="83667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77824" cy="836678"/>
            </a:xfrm>
            <a:custGeom>
              <a:avLst/>
              <a:gdLst/>
              <a:ahLst/>
              <a:cxnLst/>
              <a:rect r="r" b="b" t="t" l="l"/>
              <a:pathLst>
                <a:path h="83667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36678"/>
                  </a:lnTo>
                  <a:lnTo>
                    <a:pt x="0" y="83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-491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877824" cy="846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915506" y="7548740"/>
            <a:ext cx="3497580" cy="287608"/>
            <a:chOff x="0" y="0"/>
            <a:chExt cx="4663440" cy="38347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663440" cy="383477"/>
            </a:xfrm>
            <a:custGeom>
              <a:avLst/>
              <a:gdLst/>
              <a:ahLst/>
              <a:cxnLst/>
              <a:rect r="r" b="b" t="t" l="l"/>
              <a:pathLst>
                <a:path h="383477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383477"/>
                  </a:lnTo>
                  <a:lnTo>
                    <a:pt x="0" y="3834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97" r="0" b="-18941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4663440" cy="383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 CENTRALLY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915506" y="7849421"/>
            <a:ext cx="7612380" cy="261462"/>
            <a:chOff x="0" y="0"/>
            <a:chExt cx="10149840" cy="34861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0149840" cy="348616"/>
            </a:xfrm>
            <a:custGeom>
              <a:avLst/>
              <a:gdLst/>
              <a:ahLst/>
              <a:cxnLst/>
              <a:rect r="r" b="b" t="t" l="l"/>
              <a:pathLst>
                <a:path h="34861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348616"/>
                  </a:lnTo>
                  <a:lnTo>
                    <a:pt x="0" y="348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4841" r="0" b="-51975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10149840" cy="358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4C91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GIS • heatmaps • alerts • reports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915506" y="8137029"/>
            <a:ext cx="7612380" cy="326827"/>
            <a:chOff x="0" y="0"/>
            <a:chExt cx="10149840" cy="43577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149840" cy="435770"/>
            </a:xfrm>
            <a:custGeom>
              <a:avLst/>
              <a:gdLst/>
              <a:ahLst/>
              <a:cxnLst/>
              <a:rect r="r" b="b" t="t" l="l"/>
              <a:pathLst>
                <a:path h="43577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435770"/>
                  </a:lnTo>
                  <a:lnTo>
                    <a:pt x="0" y="435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381" r="0" b="-406299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9525"/>
              <a:ext cx="10149840" cy="445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Give authorities one GIS view for maintenance, traffic and incident response.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8845658" y="8842977"/>
            <a:ext cx="9189720" cy="509851"/>
            <a:chOff x="0" y="0"/>
            <a:chExt cx="12252960" cy="67980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2252960" cy="679801"/>
            </a:xfrm>
            <a:custGeom>
              <a:avLst/>
              <a:gdLst/>
              <a:ahLst/>
              <a:cxnLst/>
              <a:rect r="r" b="b" t="t" l="l"/>
              <a:pathLst>
                <a:path h="679801" w="12252960">
                  <a:moveTo>
                    <a:pt x="0" y="113300"/>
                  </a:moveTo>
                  <a:cubicBezTo>
                    <a:pt x="0" y="50719"/>
                    <a:pt x="53213" y="0"/>
                    <a:pt x="118872" y="0"/>
                  </a:cubicBezTo>
                  <a:lnTo>
                    <a:pt x="12134088" y="0"/>
                  </a:lnTo>
                  <a:cubicBezTo>
                    <a:pt x="12199747" y="0"/>
                    <a:pt x="12252960" y="50719"/>
                    <a:pt x="12252960" y="113300"/>
                  </a:cubicBezTo>
                  <a:lnTo>
                    <a:pt x="12252960" y="566501"/>
                  </a:lnTo>
                  <a:cubicBezTo>
                    <a:pt x="12252960" y="629082"/>
                    <a:pt x="12199747" y="679801"/>
                    <a:pt x="12134088" y="679801"/>
                  </a:cubicBezTo>
                  <a:lnTo>
                    <a:pt x="118872" y="679801"/>
                  </a:lnTo>
                  <a:cubicBezTo>
                    <a:pt x="53213" y="679801"/>
                    <a:pt x="0" y="629082"/>
                    <a:pt x="0" y="566501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023966" y="8921415"/>
            <a:ext cx="8846820" cy="287608"/>
            <a:chOff x="0" y="0"/>
            <a:chExt cx="11795760" cy="383477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1795760" cy="383477"/>
            </a:xfrm>
            <a:custGeom>
              <a:avLst/>
              <a:gdLst/>
              <a:ahLst/>
              <a:cxnLst/>
              <a:rect r="r" b="b" t="t" l="l"/>
              <a:pathLst>
                <a:path h="383477" w="11795760">
                  <a:moveTo>
                    <a:pt x="0" y="0"/>
                  </a:moveTo>
                  <a:lnTo>
                    <a:pt x="11795760" y="0"/>
                  </a:lnTo>
                  <a:lnTo>
                    <a:pt x="11795760" y="383477"/>
                  </a:lnTo>
                  <a:lnTo>
                    <a:pt x="0" y="3834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900" r="0" b="-551818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11795760" cy="393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NOVELTY  |  THE BUS FLEET BECOMES THE CITY'S MOVING SENSOR GRID</a:t>
              </a: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619429" y="2249210"/>
            <a:ext cx="7711881" cy="60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  <a:spcBef>
                <a:spcPct val="0"/>
              </a:spcBef>
            </a:pPr>
            <a:r>
              <a:rPr lang="en-US" b="true" sz="172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Cities lack real-time situational awareness of road infrastructure and traffic because existing surveillance is static, sparse, and entirely reactive.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718413" y="1847255"/>
            <a:ext cx="2233315" cy="31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2370" b="true">
                <a:solidFill>
                  <a:srgbClr val="F160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</a:t>
            </a:r>
          </a:p>
        </p:txBody>
      </p:sp>
      <p:grpSp>
        <p:nvGrpSpPr>
          <p:cNvPr name="Group 137" id="137"/>
          <p:cNvGrpSpPr/>
          <p:nvPr/>
        </p:nvGrpSpPr>
        <p:grpSpPr>
          <a:xfrm rot="0">
            <a:off x="420604" y="1779714"/>
            <a:ext cx="167165" cy="1101932"/>
            <a:chOff x="0" y="0"/>
            <a:chExt cx="651195" cy="42926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51195" cy="4292600"/>
            </a:xfrm>
            <a:custGeom>
              <a:avLst/>
              <a:gdLst/>
              <a:ahLst/>
              <a:cxnLst/>
              <a:rect r="r" b="b" t="t" l="l"/>
              <a:pathLst>
                <a:path h="4292600" w="651195">
                  <a:moveTo>
                    <a:pt x="0" y="0"/>
                  </a:moveTo>
                  <a:lnTo>
                    <a:pt x="651195" y="0"/>
                  </a:lnTo>
                  <a:lnTo>
                    <a:pt x="651195" y="4292600"/>
                  </a:lnTo>
                  <a:lnTo>
                    <a:pt x="0" y="429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548" r="0" b="-4548"/>
              </a:stretch>
            </a:blipFill>
          </p:spPr>
        </p:sp>
      </p:grpSp>
      <p:sp>
        <p:nvSpPr>
          <p:cNvPr name="TextBox 139" id="139"/>
          <p:cNvSpPr txBox="true"/>
          <p:nvPr/>
        </p:nvSpPr>
        <p:spPr>
          <a:xfrm rot="0">
            <a:off x="9267445" y="1850910"/>
            <a:ext cx="2333923" cy="31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2370" b="true">
                <a:solidFill>
                  <a:srgbClr val="0080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9297711" y="2285669"/>
            <a:ext cx="8075889" cy="60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  <a:spcBef>
                <a:spcPct val="0"/>
              </a:spcBef>
            </a:pPr>
            <a:r>
              <a:rPr lang="en-US" b="true" sz="172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Transform the existing public transit fleet into an AI-powered, edge-to-cloud urban sensing network that maps the city daily.</a:t>
            </a:r>
          </a:p>
        </p:txBody>
      </p:sp>
      <p:grpSp>
        <p:nvGrpSpPr>
          <p:cNvPr name="Group 141" id="141"/>
          <p:cNvGrpSpPr/>
          <p:nvPr/>
        </p:nvGrpSpPr>
        <p:grpSpPr>
          <a:xfrm rot="0">
            <a:off x="8952267" y="1714500"/>
            <a:ext cx="181828" cy="1336042"/>
            <a:chOff x="0" y="0"/>
            <a:chExt cx="584200" cy="42926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842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584200">
                  <a:moveTo>
                    <a:pt x="0" y="0"/>
                  </a:moveTo>
                  <a:lnTo>
                    <a:pt x="584200" y="0"/>
                  </a:lnTo>
                  <a:lnTo>
                    <a:pt x="584200" y="4292600"/>
                  </a:lnTo>
                  <a:lnTo>
                    <a:pt x="0" y="429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304573" y="3212467"/>
            <a:ext cx="813364" cy="1754036"/>
            <a:chOff x="0" y="0"/>
            <a:chExt cx="1460500" cy="31496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460500" cy="3149600"/>
            </a:xfrm>
            <a:custGeom>
              <a:avLst/>
              <a:gdLst/>
              <a:ahLst/>
              <a:cxnLst/>
              <a:rect r="r" b="b" t="t" l="l"/>
              <a:pathLst>
                <a:path h="3149600" w="1460500">
                  <a:moveTo>
                    <a:pt x="0" y="0"/>
                  </a:moveTo>
                  <a:lnTo>
                    <a:pt x="1460500" y="0"/>
                  </a:lnTo>
                  <a:lnTo>
                    <a:pt x="1460500" y="3149600"/>
                  </a:lnTo>
                  <a:lnTo>
                    <a:pt x="0" y="314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45" id="145"/>
          <p:cNvSpPr txBox="true"/>
          <p:nvPr/>
        </p:nvSpPr>
        <p:spPr>
          <a:xfrm rot="0">
            <a:off x="544763" y="3790593"/>
            <a:ext cx="311200" cy="34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245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189796" y="3596274"/>
            <a:ext cx="1623412" cy="21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3"/>
              </a:lnSpc>
            </a:pPr>
            <a:r>
              <a:rPr lang="en-US" sz="1503" b="true">
                <a:solidFill>
                  <a:srgbClr val="0025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DEDUPLICATION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202810" y="3837164"/>
            <a:ext cx="1962258" cy="82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1679">
                <a:solidFill>
                  <a:srgbClr val="002559"/>
                </a:solidFill>
                <a:latin typeface="Roboto"/>
                <a:ea typeface="Roboto"/>
                <a:cs typeface="Roboto"/>
                <a:sym typeface="Roboto"/>
              </a:rPr>
              <a:t>40 buses </a:t>
            </a:r>
          </a:p>
          <a:p>
            <a:pPr algn="l">
              <a:lnSpc>
                <a:spcPts val="2183"/>
              </a:lnSpc>
            </a:pPr>
            <a:r>
              <a:rPr lang="en-US" sz="1679">
                <a:solidFill>
                  <a:srgbClr val="002559"/>
                </a:solidFill>
                <a:latin typeface="Roboto"/>
                <a:ea typeface="Roboto"/>
                <a:cs typeface="Roboto"/>
                <a:sym typeface="Roboto"/>
              </a:rPr>
              <a:t>→ 1 Pothole </a:t>
            </a:r>
          </a:p>
          <a:p>
            <a:pPr algn="l">
              <a:lnSpc>
                <a:spcPts val="2183"/>
              </a:lnSpc>
            </a:pPr>
            <a:r>
              <a:rPr lang="en-US" sz="1679">
                <a:solidFill>
                  <a:srgbClr val="002559"/>
                </a:solidFill>
                <a:latin typeface="Roboto"/>
                <a:ea typeface="Roboto"/>
                <a:cs typeface="Roboto"/>
                <a:sym typeface="Roboto"/>
              </a:rPr>
              <a:t>→ 1 verified record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361414" y="4786193"/>
            <a:ext cx="807445" cy="1726262"/>
            <a:chOff x="0" y="0"/>
            <a:chExt cx="1473200" cy="31496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473200" cy="3149600"/>
            </a:xfrm>
            <a:custGeom>
              <a:avLst/>
              <a:gdLst/>
              <a:ahLst/>
              <a:cxnLst/>
              <a:rect r="r" b="b" t="t" l="l"/>
              <a:pathLst>
                <a:path h="31496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3149600"/>
                  </a:lnTo>
                  <a:lnTo>
                    <a:pt x="0" y="314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50" id="150"/>
          <p:cNvSpPr txBox="true"/>
          <p:nvPr/>
        </p:nvSpPr>
        <p:spPr>
          <a:xfrm rot="0">
            <a:off x="556593" y="5354050"/>
            <a:ext cx="306272" cy="33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</a:pPr>
            <a:r>
              <a:rPr lang="en-US" sz="2411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210623" y="5130951"/>
            <a:ext cx="1301918" cy="23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625" b="true">
                <a:solidFill>
                  <a:srgbClr val="0025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MAP PRIORS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210623" y="5371032"/>
            <a:ext cx="2098104" cy="10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4"/>
              </a:lnSpc>
            </a:pPr>
            <a:r>
              <a:rPr lang="en-US" sz="1579">
                <a:solidFill>
                  <a:srgbClr val="002559"/>
                </a:solidFill>
                <a:latin typeface="Roboto"/>
                <a:ea typeface="Roboto"/>
                <a:cs typeface="Roboto"/>
                <a:sym typeface="Roboto"/>
              </a:rPr>
              <a:t>Flags m</a:t>
            </a:r>
            <a:r>
              <a:rPr lang="en-US" sz="1579">
                <a:solidFill>
                  <a:srgbClr val="002559"/>
                </a:solidFill>
                <a:latin typeface="Roboto"/>
                <a:ea typeface="Roboto"/>
                <a:cs typeface="Roboto"/>
                <a:sym typeface="Roboto"/>
              </a:rPr>
              <a:t>issing infrastructure (Expected vs. Observed)</a:t>
            </a:r>
          </a:p>
        </p:txBody>
      </p:sp>
      <p:grpSp>
        <p:nvGrpSpPr>
          <p:cNvPr name="Group 153" id="153"/>
          <p:cNvGrpSpPr/>
          <p:nvPr/>
        </p:nvGrpSpPr>
        <p:grpSpPr>
          <a:xfrm rot="0">
            <a:off x="420604" y="6409684"/>
            <a:ext cx="591271" cy="1593860"/>
            <a:chOff x="0" y="0"/>
            <a:chExt cx="1168400" cy="31496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168400" cy="3149600"/>
            </a:xfrm>
            <a:custGeom>
              <a:avLst/>
              <a:gdLst/>
              <a:ahLst/>
              <a:cxnLst/>
              <a:rect r="r" b="b" t="t" l="l"/>
              <a:pathLst>
                <a:path h="3149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3149600"/>
                  </a:lnTo>
                  <a:lnTo>
                    <a:pt x="0" y="314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55" id="155"/>
          <p:cNvSpPr txBox="true"/>
          <p:nvPr/>
        </p:nvSpPr>
        <p:spPr>
          <a:xfrm rot="0">
            <a:off x="532046" y="6928101"/>
            <a:ext cx="282782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222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1117790" y="6765739"/>
            <a:ext cx="1932977" cy="19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366" b="true">
                <a:solidFill>
                  <a:srgbClr val="0025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AUTO-REPAIR VERIFY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136556" y="6994457"/>
            <a:ext cx="1554785" cy="75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526">
                <a:solidFill>
                  <a:srgbClr val="002559"/>
                </a:solidFill>
                <a:latin typeface="Roboto"/>
                <a:ea typeface="Roboto"/>
                <a:cs typeface="Roboto"/>
                <a:sym typeface="Roboto"/>
              </a:rPr>
              <a:t>Fleet confirms repairs; zero human input.</a:t>
            </a:r>
          </a:p>
        </p:txBody>
      </p:sp>
      <p:grpSp>
        <p:nvGrpSpPr>
          <p:cNvPr name="Group 158" id="158"/>
          <p:cNvGrpSpPr/>
          <p:nvPr/>
        </p:nvGrpSpPr>
        <p:grpSpPr>
          <a:xfrm rot="0">
            <a:off x="361414" y="7910718"/>
            <a:ext cx="751871" cy="1621425"/>
            <a:chOff x="0" y="0"/>
            <a:chExt cx="1460500" cy="31496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460500" cy="3149600"/>
            </a:xfrm>
            <a:custGeom>
              <a:avLst/>
              <a:gdLst/>
              <a:ahLst/>
              <a:cxnLst/>
              <a:rect r="r" b="b" t="t" l="l"/>
              <a:pathLst>
                <a:path h="3149600" w="1460500">
                  <a:moveTo>
                    <a:pt x="0" y="0"/>
                  </a:moveTo>
                  <a:lnTo>
                    <a:pt x="1460500" y="0"/>
                  </a:lnTo>
                  <a:lnTo>
                    <a:pt x="1460500" y="3149600"/>
                  </a:lnTo>
                  <a:lnTo>
                    <a:pt x="0" y="314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60" id="160"/>
          <p:cNvSpPr txBox="true"/>
          <p:nvPr/>
        </p:nvSpPr>
        <p:spPr>
          <a:xfrm rot="0">
            <a:off x="1152513" y="8282291"/>
            <a:ext cx="1128010" cy="19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</a:pPr>
            <a:r>
              <a:rPr lang="en-US" sz="1389" b="true">
                <a:solidFill>
                  <a:srgbClr val="0025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BANDWIDTH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189779" y="8483759"/>
            <a:ext cx="1456145" cy="73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483">
                <a:solidFill>
                  <a:srgbClr val="002559"/>
                </a:solidFill>
                <a:latin typeface="Roboto"/>
                <a:ea typeface="Roboto"/>
                <a:cs typeface="Roboto"/>
                <a:sym typeface="Roboto"/>
              </a:rPr>
              <a:t>Edge</a:t>
            </a:r>
            <a:r>
              <a:rPr lang="en-US" sz="1483">
                <a:solidFill>
                  <a:srgbClr val="002559"/>
                </a:solidFill>
                <a:latin typeface="Roboto"/>
                <a:ea typeface="Roboto"/>
                <a:cs typeface="Roboto"/>
                <a:sym typeface="Roboto"/>
              </a:rPr>
              <a:t> processing = 3 KB alerts (no raw video sent).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593513" y="8447296"/>
            <a:ext cx="287672" cy="31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</a:pPr>
            <a:r>
              <a:rPr lang="en-US" sz="226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Rolling Census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04182" y="2460865"/>
            <a:ext cx="13493056" cy="576072"/>
            <a:chOff x="0" y="0"/>
            <a:chExt cx="17990741" cy="7680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90741" cy="768096"/>
            </a:xfrm>
            <a:custGeom>
              <a:avLst/>
              <a:gdLst/>
              <a:ahLst/>
              <a:cxnLst/>
              <a:rect r="r" b="b" t="t" l="l"/>
              <a:pathLst>
                <a:path h="768096" w="17990741">
                  <a:moveTo>
                    <a:pt x="0" y="0"/>
                  </a:moveTo>
                  <a:lnTo>
                    <a:pt x="17990741" y="0"/>
                  </a:lnTo>
                  <a:lnTo>
                    <a:pt x="17990741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-19949" b="-49743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990741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Capture once. Understand at the edge. Send only what the city needs.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494657" y="3370312"/>
            <a:ext cx="3812456" cy="5258562"/>
            <a:chOff x="0" y="0"/>
            <a:chExt cx="5083275" cy="70114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3275" cy="7011416"/>
            </a:xfrm>
            <a:custGeom>
              <a:avLst/>
              <a:gdLst/>
              <a:ahLst/>
              <a:cxnLst/>
              <a:rect r="r" b="b" t="t" l="l"/>
              <a:pathLst>
                <a:path h="7011416" w="5083275">
                  <a:moveTo>
                    <a:pt x="0" y="1025271"/>
                  </a:moveTo>
                  <a:cubicBezTo>
                    <a:pt x="0" y="459105"/>
                    <a:pt x="379357" y="0"/>
                    <a:pt x="847178" y="0"/>
                  </a:cubicBezTo>
                  <a:lnTo>
                    <a:pt x="4236098" y="0"/>
                  </a:lnTo>
                  <a:cubicBezTo>
                    <a:pt x="4704024" y="0"/>
                    <a:pt x="5083275" y="459105"/>
                    <a:pt x="5083275" y="1025271"/>
                  </a:cubicBezTo>
                  <a:lnTo>
                    <a:pt x="5083275" y="5986145"/>
                  </a:lnTo>
                  <a:cubicBezTo>
                    <a:pt x="5083275" y="6552438"/>
                    <a:pt x="4703919" y="7011416"/>
                    <a:pt x="4236098" y="7011416"/>
                  </a:cubicBezTo>
                  <a:lnTo>
                    <a:pt x="847178" y="7011416"/>
                  </a:lnTo>
                  <a:cubicBezTo>
                    <a:pt x="379357" y="7011416"/>
                    <a:pt x="0" y="6552311"/>
                    <a:pt x="0" y="5986145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620842" y="3599293"/>
            <a:ext cx="1246683" cy="481592"/>
            <a:chOff x="0" y="0"/>
            <a:chExt cx="1554306" cy="6004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4306" cy="600427"/>
            </a:xfrm>
            <a:custGeom>
              <a:avLst/>
              <a:gdLst/>
              <a:ahLst/>
              <a:cxnLst/>
              <a:rect r="r" b="b" t="t" l="l"/>
              <a:pathLst>
                <a:path h="600427" w="1554306">
                  <a:moveTo>
                    <a:pt x="0" y="100071"/>
                  </a:moveTo>
                  <a:cubicBezTo>
                    <a:pt x="0" y="44824"/>
                    <a:pt x="27074" y="0"/>
                    <a:pt x="60445" y="0"/>
                  </a:cubicBezTo>
                  <a:lnTo>
                    <a:pt x="1493860" y="0"/>
                  </a:lnTo>
                  <a:cubicBezTo>
                    <a:pt x="1527231" y="0"/>
                    <a:pt x="1554306" y="44824"/>
                    <a:pt x="1554306" y="100071"/>
                  </a:cubicBezTo>
                  <a:lnTo>
                    <a:pt x="1554306" y="500356"/>
                  </a:lnTo>
                  <a:cubicBezTo>
                    <a:pt x="1554306" y="555603"/>
                    <a:pt x="1527231" y="600427"/>
                    <a:pt x="1493860" y="600427"/>
                  </a:cubicBezTo>
                  <a:lnTo>
                    <a:pt x="60445" y="600427"/>
                  </a:lnTo>
                  <a:cubicBezTo>
                    <a:pt x="27074" y="600427"/>
                    <a:pt x="0" y="555603"/>
                    <a:pt x="0" y="500356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620842" y="3600204"/>
            <a:ext cx="1246683" cy="514582"/>
            <a:chOff x="0" y="0"/>
            <a:chExt cx="1662244" cy="686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62242" cy="686110"/>
            </a:xfrm>
            <a:custGeom>
              <a:avLst/>
              <a:gdLst/>
              <a:ahLst/>
              <a:cxnLst/>
              <a:rect r="r" b="b" t="t" l="l"/>
              <a:pathLst>
                <a:path h="686110" w="1662242">
                  <a:moveTo>
                    <a:pt x="0" y="0"/>
                  </a:moveTo>
                  <a:lnTo>
                    <a:pt x="1662242" y="0"/>
                  </a:lnTo>
                  <a:lnTo>
                    <a:pt x="1662242" y="686110"/>
                  </a:lnTo>
                  <a:lnTo>
                    <a:pt x="0" y="686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44" r="-21022" b="108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662244" cy="686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9"/>
                </a:lnSpc>
              </a:pPr>
              <a:r>
                <a:rPr lang="en-US" sz="1549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ONBOARD EDGE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763197" y="4271377"/>
            <a:ext cx="317337" cy="384048"/>
            <a:chOff x="0" y="0"/>
            <a:chExt cx="423117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256032"/>
                  </a:moveTo>
                  <a:cubicBezTo>
                    <a:pt x="0" y="114681"/>
                    <a:pt x="94760" y="0"/>
                    <a:pt x="211558" y="0"/>
                  </a:cubicBezTo>
                  <a:cubicBezTo>
                    <a:pt x="328356" y="0"/>
                    <a:pt x="423117" y="114681"/>
                    <a:pt x="423117" y="256032"/>
                  </a:cubicBezTo>
                  <a:cubicBezTo>
                    <a:pt x="423117" y="397383"/>
                    <a:pt x="328356" y="512064"/>
                    <a:pt x="211558" y="512064"/>
                  </a:cubicBezTo>
                  <a:cubicBezTo>
                    <a:pt x="94760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5F7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763197" y="4271377"/>
            <a:ext cx="317337" cy="384048"/>
            <a:chOff x="0" y="0"/>
            <a:chExt cx="423117" cy="5120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0"/>
                  </a:moveTo>
                  <a:lnTo>
                    <a:pt x="423117" y="0"/>
                  </a:lnTo>
                  <a:lnTo>
                    <a:pt x="423117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764" t="0" r="-11578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23117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39204" y="4257661"/>
            <a:ext cx="1530020" cy="321036"/>
            <a:chOff x="0" y="0"/>
            <a:chExt cx="2040026" cy="4280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0026" cy="428048"/>
            </a:xfrm>
            <a:custGeom>
              <a:avLst/>
              <a:gdLst/>
              <a:ahLst/>
              <a:cxnLst/>
              <a:rect r="r" b="b" t="t" l="l"/>
              <a:pathLst>
                <a:path h="428048" w="2040026">
                  <a:moveTo>
                    <a:pt x="0" y="0"/>
                  </a:moveTo>
                  <a:lnTo>
                    <a:pt x="2040026" y="0"/>
                  </a:lnTo>
                  <a:lnTo>
                    <a:pt x="2040026" y="428048"/>
                  </a:lnTo>
                  <a:lnTo>
                    <a:pt x="0" y="428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60" r="-21021" b="-5510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040026" cy="428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9"/>
                </a:lnSpc>
              </a:pPr>
              <a:r>
                <a:rPr lang="en-US" sz="172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Video ingest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599221" y="4257661"/>
            <a:ext cx="1303350" cy="578211"/>
            <a:chOff x="0" y="0"/>
            <a:chExt cx="1737800" cy="7709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37800" cy="770948"/>
            </a:xfrm>
            <a:custGeom>
              <a:avLst/>
              <a:gdLst/>
              <a:ahLst/>
              <a:cxnLst/>
              <a:rect r="r" b="b" t="t" l="l"/>
              <a:pathLst>
                <a:path h="770948" w="1737800">
                  <a:moveTo>
                    <a:pt x="0" y="0"/>
                  </a:moveTo>
                  <a:lnTo>
                    <a:pt x="1737800" y="0"/>
                  </a:lnTo>
                  <a:lnTo>
                    <a:pt x="1737800" y="770948"/>
                  </a:lnTo>
                  <a:lnTo>
                    <a:pt x="0" y="770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16" r="-21021" b="1600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737800" cy="770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9"/>
                </a:lnSpc>
              </a:pPr>
              <a:r>
                <a:rPr lang="en-US" sz="172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multi-camera streams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763197" y="5053189"/>
            <a:ext cx="317337" cy="384048"/>
            <a:chOff x="0" y="0"/>
            <a:chExt cx="423117" cy="512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256032"/>
                  </a:moveTo>
                  <a:cubicBezTo>
                    <a:pt x="0" y="114681"/>
                    <a:pt x="94760" y="0"/>
                    <a:pt x="211558" y="0"/>
                  </a:cubicBezTo>
                  <a:cubicBezTo>
                    <a:pt x="328356" y="0"/>
                    <a:pt x="423117" y="114681"/>
                    <a:pt x="423117" y="256032"/>
                  </a:cubicBezTo>
                  <a:cubicBezTo>
                    <a:pt x="423117" y="397383"/>
                    <a:pt x="328356" y="512064"/>
                    <a:pt x="211558" y="512064"/>
                  </a:cubicBezTo>
                  <a:cubicBezTo>
                    <a:pt x="94760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763197" y="5053189"/>
            <a:ext cx="317337" cy="384048"/>
            <a:chOff x="0" y="0"/>
            <a:chExt cx="423117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0"/>
                  </a:moveTo>
                  <a:lnTo>
                    <a:pt x="423117" y="0"/>
                  </a:lnTo>
                  <a:lnTo>
                    <a:pt x="423117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764" t="0" r="-115786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23117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239204" y="5039473"/>
            <a:ext cx="1530020" cy="298284"/>
            <a:chOff x="0" y="0"/>
            <a:chExt cx="2040026" cy="3977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40026" cy="397712"/>
            </a:xfrm>
            <a:custGeom>
              <a:avLst/>
              <a:gdLst/>
              <a:ahLst/>
              <a:cxnLst/>
              <a:rect r="r" b="b" t="t" l="l"/>
              <a:pathLst>
                <a:path h="397712" w="2040026">
                  <a:moveTo>
                    <a:pt x="0" y="0"/>
                  </a:moveTo>
                  <a:lnTo>
                    <a:pt x="2040026" y="0"/>
                  </a:lnTo>
                  <a:lnTo>
                    <a:pt x="2040026" y="397712"/>
                  </a:lnTo>
                  <a:lnTo>
                    <a:pt x="0" y="39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74" r="-21021" b="-669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040026" cy="397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Vision AI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99221" y="4934698"/>
            <a:ext cx="1303350" cy="774534"/>
            <a:chOff x="0" y="0"/>
            <a:chExt cx="1737800" cy="10327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37800" cy="1032711"/>
            </a:xfrm>
            <a:custGeom>
              <a:avLst/>
              <a:gdLst/>
              <a:ahLst/>
              <a:cxnLst/>
              <a:rect r="r" b="b" t="t" l="l"/>
              <a:pathLst>
                <a:path h="1032711" w="1737800">
                  <a:moveTo>
                    <a:pt x="0" y="0"/>
                  </a:moveTo>
                  <a:lnTo>
                    <a:pt x="1737800" y="0"/>
                  </a:lnTo>
                  <a:lnTo>
                    <a:pt x="1737800" y="1032711"/>
                  </a:lnTo>
                  <a:lnTo>
                    <a:pt x="0" y="10327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60" r="-21021" b="3729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737800" cy="1032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road + vehicle + people detection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763197" y="5835001"/>
            <a:ext cx="317337" cy="384048"/>
            <a:chOff x="0" y="0"/>
            <a:chExt cx="423117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256032"/>
                  </a:moveTo>
                  <a:cubicBezTo>
                    <a:pt x="0" y="114681"/>
                    <a:pt x="94760" y="0"/>
                    <a:pt x="211558" y="0"/>
                  </a:cubicBezTo>
                  <a:cubicBezTo>
                    <a:pt x="328356" y="0"/>
                    <a:pt x="423117" y="114681"/>
                    <a:pt x="423117" y="256032"/>
                  </a:cubicBezTo>
                  <a:cubicBezTo>
                    <a:pt x="423117" y="397383"/>
                    <a:pt x="328356" y="512064"/>
                    <a:pt x="211558" y="512064"/>
                  </a:cubicBezTo>
                  <a:cubicBezTo>
                    <a:pt x="94760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7B9A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763197" y="5835001"/>
            <a:ext cx="317337" cy="384048"/>
            <a:chOff x="0" y="0"/>
            <a:chExt cx="423117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0"/>
                  </a:moveTo>
                  <a:lnTo>
                    <a:pt x="423117" y="0"/>
                  </a:lnTo>
                  <a:lnTo>
                    <a:pt x="423117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764" t="0" r="-115786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23117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239204" y="5821285"/>
            <a:ext cx="1530020" cy="298284"/>
            <a:chOff x="0" y="0"/>
            <a:chExt cx="2040026" cy="3977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40026" cy="397712"/>
            </a:xfrm>
            <a:custGeom>
              <a:avLst/>
              <a:gdLst/>
              <a:ahLst/>
              <a:cxnLst/>
              <a:rect r="r" b="b" t="t" l="l"/>
              <a:pathLst>
                <a:path h="397712" w="2040026">
                  <a:moveTo>
                    <a:pt x="0" y="0"/>
                  </a:moveTo>
                  <a:lnTo>
                    <a:pt x="2040026" y="0"/>
                  </a:lnTo>
                  <a:lnTo>
                    <a:pt x="2040026" y="397712"/>
                  </a:lnTo>
                  <a:lnTo>
                    <a:pt x="0" y="39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74" r="-21021" b="-6694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040026" cy="397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Tracking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599221" y="5821285"/>
            <a:ext cx="1303350" cy="536409"/>
            <a:chOff x="0" y="0"/>
            <a:chExt cx="1737800" cy="7152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37800" cy="715212"/>
            </a:xfrm>
            <a:custGeom>
              <a:avLst/>
              <a:gdLst/>
              <a:ahLst/>
              <a:cxnLst/>
              <a:rect r="r" b="b" t="t" l="l"/>
              <a:pathLst>
                <a:path h="715212" w="1737800">
                  <a:moveTo>
                    <a:pt x="0" y="0"/>
                  </a:moveTo>
                  <a:lnTo>
                    <a:pt x="1737800" y="0"/>
                  </a:lnTo>
                  <a:lnTo>
                    <a:pt x="1737800" y="715212"/>
                  </a:lnTo>
                  <a:lnTo>
                    <a:pt x="0" y="715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55" r="-21021" b="946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737800" cy="715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persistent object IDs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763197" y="6616813"/>
            <a:ext cx="317337" cy="384048"/>
            <a:chOff x="0" y="0"/>
            <a:chExt cx="423117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256032"/>
                  </a:moveTo>
                  <a:cubicBezTo>
                    <a:pt x="0" y="114681"/>
                    <a:pt x="94760" y="0"/>
                    <a:pt x="211558" y="0"/>
                  </a:cubicBezTo>
                  <a:cubicBezTo>
                    <a:pt x="328356" y="0"/>
                    <a:pt x="423117" y="114681"/>
                    <a:pt x="423117" y="256032"/>
                  </a:cubicBezTo>
                  <a:cubicBezTo>
                    <a:pt x="423117" y="397383"/>
                    <a:pt x="328356" y="512064"/>
                    <a:pt x="211558" y="512064"/>
                  </a:cubicBezTo>
                  <a:cubicBezTo>
                    <a:pt x="94760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6C53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763197" y="6616813"/>
            <a:ext cx="317337" cy="384048"/>
            <a:chOff x="0" y="0"/>
            <a:chExt cx="423117" cy="512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0"/>
                  </a:moveTo>
                  <a:lnTo>
                    <a:pt x="423117" y="0"/>
                  </a:lnTo>
                  <a:lnTo>
                    <a:pt x="423117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764" t="0" r="-115786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23117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239204" y="6603097"/>
            <a:ext cx="1530020" cy="298284"/>
            <a:chOff x="0" y="0"/>
            <a:chExt cx="2040026" cy="3977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0026" cy="397712"/>
            </a:xfrm>
            <a:custGeom>
              <a:avLst/>
              <a:gdLst/>
              <a:ahLst/>
              <a:cxnLst/>
              <a:rect r="r" b="b" t="t" l="l"/>
              <a:pathLst>
                <a:path h="397712" w="2040026">
                  <a:moveTo>
                    <a:pt x="0" y="0"/>
                  </a:moveTo>
                  <a:lnTo>
                    <a:pt x="2040026" y="0"/>
                  </a:lnTo>
                  <a:lnTo>
                    <a:pt x="2040026" y="397712"/>
                  </a:lnTo>
                  <a:lnTo>
                    <a:pt x="0" y="39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74" r="-21021" b="-6694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040026" cy="397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 engine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599221" y="6498322"/>
            <a:ext cx="1303350" cy="774534"/>
            <a:chOff x="0" y="0"/>
            <a:chExt cx="1737800" cy="10327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37800" cy="1032711"/>
            </a:xfrm>
            <a:custGeom>
              <a:avLst/>
              <a:gdLst/>
              <a:ahLst/>
              <a:cxnLst/>
              <a:rect r="r" b="b" t="t" l="l"/>
              <a:pathLst>
                <a:path h="1032711" w="1737800">
                  <a:moveTo>
                    <a:pt x="0" y="0"/>
                  </a:moveTo>
                  <a:lnTo>
                    <a:pt x="1737800" y="0"/>
                  </a:lnTo>
                  <a:lnTo>
                    <a:pt x="1737800" y="1032711"/>
                  </a:lnTo>
                  <a:lnTo>
                    <a:pt x="0" y="10327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60" r="-21021" b="3729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737800" cy="1032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severity • confidence • trigger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763197" y="7398625"/>
            <a:ext cx="317337" cy="384048"/>
            <a:chOff x="0" y="0"/>
            <a:chExt cx="423117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256032"/>
                  </a:moveTo>
                  <a:cubicBezTo>
                    <a:pt x="0" y="114681"/>
                    <a:pt x="94760" y="0"/>
                    <a:pt x="211558" y="0"/>
                  </a:cubicBezTo>
                  <a:cubicBezTo>
                    <a:pt x="328356" y="0"/>
                    <a:pt x="423117" y="114681"/>
                    <a:pt x="423117" y="256032"/>
                  </a:cubicBezTo>
                  <a:cubicBezTo>
                    <a:pt x="423117" y="397383"/>
                    <a:pt x="328356" y="512064"/>
                    <a:pt x="211558" y="512064"/>
                  </a:cubicBezTo>
                  <a:cubicBezTo>
                    <a:pt x="94760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91D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763197" y="7398625"/>
            <a:ext cx="317337" cy="384048"/>
            <a:chOff x="0" y="0"/>
            <a:chExt cx="423117" cy="5120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3117" cy="512064"/>
            </a:xfrm>
            <a:custGeom>
              <a:avLst/>
              <a:gdLst/>
              <a:ahLst/>
              <a:cxnLst/>
              <a:rect r="r" b="b" t="t" l="l"/>
              <a:pathLst>
                <a:path h="512064" w="423117">
                  <a:moveTo>
                    <a:pt x="0" y="0"/>
                  </a:moveTo>
                  <a:lnTo>
                    <a:pt x="423117" y="0"/>
                  </a:lnTo>
                  <a:lnTo>
                    <a:pt x="423117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764" t="0" r="-115786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23117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239204" y="7384909"/>
            <a:ext cx="1530020" cy="298284"/>
            <a:chOff x="0" y="0"/>
            <a:chExt cx="2040026" cy="3977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40026" cy="397712"/>
            </a:xfrm>
            <a:custGeom>
              <a:avLst/>
              <a:gdLst/>
              <a:ahLst/>
              <a:cxnLst/>
              <a:rect r="r" b="b" t="t" l="l"/>
              <a:pathLst>
                <a:path h="397712" w="2040026">
                  <a:moveTo>
                    <a:pt x="0" y="0"/>
                  </a:moveTo>
                  <a:lnTo>
                    <a:pt x="2040026" y="0"/>
                  </a:lnTo>
                  <a:lnTo>
                    <a:pt x="2040026" y="397712"/>
                  </a:lnTo>
                  <a:lnTo>
                    <a:pt x="0" y="39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74" r="-21021" b="-669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040026" cy="397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Evidence pack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599221" y="7384909"/>
            <a:ext cx="1303350" cy="774534"/>
            <a:chOff x="0" y="0"/>
            <a:chExt cx="1737800" cy="10327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37800" cy="1032711"/>
            </a:xfrm>
            <a:custGeom>
              <a:avLst/>
              <a:gdLst/>
              <a:ahLst/>
              <a:cxnLst/>
              <a:rect r="r" b="b" t="t" l="l"/>
              <a:pathLst>
                <a:path h="1032711" w="1737800">
                  <a:moveTo>
                    <a:pt x="0" y="0"/>
                  </a:moveTo>
                  <a:lnTo>
                    <a:pt x="1737800" y="0"/>
                  </a:lnTo>
                  <a:lnTo>
                    <a:pt x="1737800" y="1032711"/>
                  </a:lnTo>
                  <a:lnTo>
                    <a:pt x="0" y="10327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60" r="-21021" b="3729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737800" cy="1032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GPS • time • event evidence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552043" y="3370312"/>
            <a:ext cx="2282437" cy="5258562"/>
            <a:chOff x="0" y="0"/>
            <a:chExt cx="3043249" cy="70114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043249" cy="7011416"/>
            </a:xfrm>
            <a:custGeom>
              <a:avLst/>
              <a:gdLst/>
              <a:ahLst/>
              <a:cxnLst/>
              <a:rect r="r" b="b" t="t" l="l"/>
              <a:pathLst>
                <a:path h="7011416" w="3043249">
                  <a:moveTo>
                    <a:pt x="0" y="613791"/>
                  </a:moveTo>
                  <a:cubicBezTo>
                    <a:pt x="0" y="274828"/>
                    <a:pt x="227089" y="0"/>
                    <a:pt x="507173" y="0"/>
                  </a:cubicBezTo>
                  <a:lnTo>
                    <a:pt x="2536076" y="0"/>
                  </a:lnTo>
                  <a:cubicBezTo>
                    <a:pt x="2816160" y="0"/>
                    <a:pt x="3043249" y="274828"/>
                    <a:pt x="3043249" y="613791"/>
                  </a:cubicBezTo>
                  <a:lnTo>
                    <a:pt x="3043249" y="6397625"/>
                  </a:lnTo>
                  <a:cubicBezTo>
                    <a:pt x="3043249" y="6736588"/>
                    <a:pt x="2816160" y="7011416"/>
                    <a:pt x="2536076" y="7011416"/>
                  </a:cubicBezTo>
                  <a:lnTo>
                    <a:pt x="507173" y="7011416"/>
                  </a:lnTo>
                  <a:cubicBezTo>
                    <a:pt x="227089" y="7011416"/>
                    <a:pt x="0" y="6736588"/>
                    <a:pt x="0" y="6397625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001919" y="3613009"/>
            <a:ext cx="1405351" cy="384048"/>
            <a:chOff x="0" y="0"/>
            <a:chExt cx="1873802" cy="5120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73802" cy="512064"/>
            </a:xfrm>
            <a:custGeom>
              <a:avLst/>
              <a:gdLst/>
              <a:ahLst/>
              <a:cxnLst/>
              <a:rect r="r" b="b" t="t" l="l"/>
              <a:pathLst>
                <a:path h="512064" w="1873802">
                  <a:moveTo>
                    <a:pt x="0" y="85344"/>
                  </a:moveTo>
                  <a:cubicBezTo>
                    <a:pt x="0" y="38227"/>
                    <a:pt x="31587" y="0"/>
                    <a:pt x="70519" y="0"/>
                  </a:cubicBezTo>
                  <a:lnTo>
                    <a:pt x="1803282" y="0"/>
                  </a:lnTo>
                  <a:cubicBezTo>
                    <a:pt x="1842215" y="0"/>
                    <a:pt x="1873802" y="38227"/>
                    <a:pt x="1873802" y="85344"/>
                  </a:cubicBezTo>
                  <a:lnTo>
                    <a:pt x="1873802" y="426720"/>
                  </a:lnTo>
                  <a:cubicBezTo>
                    <a:pt x="1873802" y="473837"/>
                    <a:pt x="1842215" y="512064"/>
                    <a:pt x="1803282" y="512064"/>
                  </a:cubicBezTo>
                  <a:lnTo>
                    <a:pt x="70519" y="512064"/>
                  </a:lnTo>
                  <a:cubicBezTo>
                    <a:pt x="3158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37B9A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058586" y="3626725"/>
            <a:ext cx="1292017" cy="329184"/>
            <a:chOff x="0" y="0"/>
            <a:chExt cx="1722689" cy="43891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722687" cy="438912"/>
            </a:xfrm>
            <a:custGeom>
              <a:avLst/>
              <a:gdLst/>
              <a:ahLst/>
              <a:cxnLst/>
              <a:rect r="r" b="b" t="t" l="l"/>
              <a:pathLst>
                <a:path h="438912" w="1722687">
                  <a:moveTo>
                    <a:pt x="0" y="0"/>
                  </a:moveTo>
                  <a:lnTo>
                    <a:pt x="1722687" y="0"/>
                  </a:lnTo>
                  <a:lnTo>
                    <a:pt x="1722687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-21022" b="-4255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722689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9"/>
                </a:lnSpc>
              </a:pPr>
              <a:r>
                <a:rPr lang="en-US" sz="1549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SECURE LINK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877250" y="4394821"/>
            <a:ext cx="1643354" cy="754380"/>
            <a:chOff x="0" y="0"/>
            <a:chExt cx="2191139" cy="10058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911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1139">
                  <a:moveTo>
                    <a:pt x="0" y="0"/>
                  </a:moveTo>
                  <a:lnTo>
                    <a:pt x="2191139" y="0"/>
                  </a:lnTo>
                  <a:lnTo>
                    <a:pt x="21911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-21021" b="-136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9525"/>
              <a:ext cx="2191139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9"/>
                </a:lnSpc>
              </a:pPr>
              <a:r>
                <a:rPr lang="en-US" sz="21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</a:t>
              </a:r>
            </a:p>
            <a:p>
              <a:pPr algn="ctr">
                <a:lnSpc>
                  <a:spcPts val="2579"/>
                </a:lnSpc>
              </a:pPr>
              <a:r>
                <a:rPr lang="en-US" sz="21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PACKET</a:t>
              </a:r>
            </a:p>
          </p:txBody>
        </p:sp>
      </p:grpSp>
      <p:sp>
        <p:nvSpPr>
          <p:cNvPr name="AutoShape 90" id="90"/>
          <p:cNvSpPr/>
          <p:nvPr/>
        </p:nvSpPr>
        <p:spPr>
          <a:xfrm>
            <a:off x="8846243" y="5509443"/>
            <a:ext cx="1595028" cy="23806"/>
          </a:xfrm>
          <a:prstGeom prst="line">
            <a:avLst/>
          </a:prstGeom>
          <a:ln cap="rnd" w="28575">
            <a:solidFill>
              <a:srgbClr val="37B9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1" id="91"/>
          <p:cNvGrpSpPr/>
          <p:nvPr/>
        </p:nvGrpSpPr>
        <p:grpSpPr>
          <a:xfrm rot="0">
            <a:off x="8843250" y="5931013"/>
            <a:ext cx="1654688" cy="411480"/>
            <a:chOff x="0" y="0"/>
            <a:chExt cx="2206251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206250" cy="548640"/>
            </a:xfrm>
            <a:custGeom>
              <a:avLst/>
              <a:gdLst/>
              <a:ahLst/>
              <a:cxnLst/>
              <a:rect r="r" b="b" t="t" l="l"/>
              <a:pathLst>
                <a:path h="548640" w="2206250">
                  <a:moveTo>
                    <a:pt x="0" y="91440"/>
                  </a:moveTo>
                  <a:cubicBezTo>
                    <a:pt x="0" y="40894"/>
                    <a:pt x="33791" y="0"/>
                    <a:pt x="75557" y="0"/>
                  </a:cubicBezTo>
                  <a:lnTo>
                    <a:pt x="2130694" y="0"/>
                  </a:lnTo>
                  <a:cubicBezTo>
                    <a:pt x="2172460" y="0"/>
                    <a:pt x="2206250" y="40894"/>
                    <a:pt x="2206250" y="91440"/>
                  </a:cubicBezTo>
                  <a:lnTo>
                    <a:pt x="2206250" y="457200"/>
                  </a:lnTo>
                  <a:cubicBezTo>
                    <a:pt x="2206250" y="507746"/>
                    <a:pt x="2172460" y="548640"/>
                    <a:pt x="2130694" y="548640"/>
                  </a:cubicBezTo>
                  <a:lnTo>
                    <a:pt x="75557" y="548640"/>
                  </a:lnTo>
                  <a:cubicBezTo>
                    <a:pt x="33791" y="548640"/>
                    <a:pt x="0" y="507746"/>
                    <a:pt x="0" y="457200"/>
                  </a:cubicBezTo>
                  <a:close/>
                </a:path>
              </a:pathLst>
            </a:custGeom>
            <a:solidFill>
              <a:srgbClr val="1F2D32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899917" y="5944729"/>
            <a:ext cx="1541353" cy="342900"/>
            <a:chOff x="0" y="0"/>
            <a:chExt cx="2055138" cy="457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55138" cy="457200"/>
            </a:xfrm>
            <a:custGeom>
              <a:avLst/>
              <a:gdLst/>
              <a:ahLst/>
              <a:cxnLst/>
              <a:rect r="r" b="b" t="t" l="l"/>
              <a:pathLst>
                <a:path h="457200" w="2055138">
                  <a:moveTo>
                    <a:pt x="0" y="0"/>
                  </a:moveTo>
                  <a:lnTo>
                    <a:pt x="2055138" y="0"/>
                  </a:lnTo>
                  <a:lnTo>
                    <a:pt x="205513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98" r="-21021" b="-5599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205513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GPS + time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8843250" y="6438505"/>
            <a:ext cx="1654688" cy="411480"/>
            <a:chOff x="0" y="0"/>
            <a:chExt cx="2206251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06250" cy="548640"/>
            </a:xfrm>
            <a:custGeom>
              <a:avLst/>
              <a:gdLst/>
              <a:ahLst/>
              <a:cxnLst/>
              <a:rect r="r" b="b" t="t" l="l"/>
              <a:pathLst>
                <a:path h="548640" w="2206250">
                  <a:moveTo>
                    <a:pt x="0" y="91440"/>
                  </a:moveTo>
                  <a:cubicBezTo>
                    <a:pt x="0" y="40894"/>
                    <a:pt x="33791" y="0"/>
                    <a:pt x="75557" y="0"/>
                  </a:cubicBezTo>
                  <a:lnTo>
                    <a:pt x="2130694" y="0"/>
                  </a:lnTo>
                  <a:cubicBezTo>
                    <a:pt x="2172460" y="0"/>
                    <a:pt x="2206250" y="40894"/>
                    <a:pt x="2206250" y="91440"/>
                  </a:cubicBezTo>
                  <a:lnTo>
                    <a:pt x="2206250" y="457200"/>
                  </a:lnTo>
                  <a:cubicBezTo>
                    <a:pt x="2206250" y="507746"/>
                    <a:pt x="2172460" y="548640"/>
                    <a:pt x="2130694" y="548640"/>
                  </a:cubicBezTo>
                  <a:lnTo>
                    <a:pt x="75557" y="548640"/>
                  </a:lnTo>
                  <a:cubicBezTo>
                    <a:pt x="33791" y="548640"/>
                    <a:pt x="0" y="507746"/>
                    <a:pt x="0" y="457200"/>
                  </a:cubicBezTo>
                  <a:close/>
                </a:path>
              </a:pathLst>
            </a:custGeom>
            <a:solidFill>
              <a:srgbClr val="1F2D32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899917" y="6452221"/>
            <a:ext cx="1541353" cy="342900"/>
            <a:chOff x="0" y="0"/>
            <a:chExt cx="2055138" cy="4572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055138" cy="457200"/>
            </a:xfrm>
            <a:custGeom>
              <a:avLst/>
              <a:gdLst/>
              <a:ahLst/>
              <a:cxnLst/>
              <a:rect r="r" b="b" t="t" l="l"/>
              <a:pathLst>
                <a:path h="457200" w="2055138">
                  <a:moveTo>
                    <a:pt x="0" y="0"/>
                  </a:moveTo>
                  <a:lnTo>
                    <a:pt x="2055138" y="0"/>
                  </a:lnTo>
                  <a:lnTo>
                    <a:pt x="205513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98" r="-21021" b="-5599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205513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confidence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843250" y="6945997"/>
            <a:ext cx="1654688" cy="411480"/>
            <a:chOff x="0" y="0"/>
            <a:chExt cx="2206251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06250" cy="548640"/>
            </a:xfrm>
            <a:custGeom>
              <a:avLst/>
              <a:gdLst/>
              <a:ahLst/>
              <a:cxnLst/>
              <a:rect r="r" b="b" t="t" l="l"/>
              <a:pathLst>
                <a:path h="548640" w="2206250">
                  <a:moveTo>
                    <a:pt x="0" y="91440"/>
                  </a:moveTo>
                  <a:cubicBezTo>
                    <a:pt x="0" y="40894"/>
                    <a:pt x="33791" y="0"/>
                    <a:pt x="75557" y="0"/>
                  </a:cubicBezTo>
                  <a:lnTo>
                    <a:pt x="2130694" y="0"/>
                  </a:lnTo>
                  <a:cubicBezTo>
                    <a:pt x="2172460" y="0"/>
                    <a:pt x="2206250" y="40894"/>
                    <a:pt x="2206250" y="91440"/>
                  </a:cubicBezTo>
                  <a:lnTo>
                    <a:pt x="2206250" y="457200"/>
                  </a:lnTo>
                  <a:cubicBezTo>
                    <a:pt x="2206250" y="507746"/>
                    <a:pt x="2172460" y="548640"/>
                    <a:pt x="2130694" y="548640"/>
                  </a:cubicBezTo>
                  <a:lnTo>
                    <a:pt x="75557" y="548640"/>
                  </a:lnTo>
                  <a:cubicBezTo>
                    <a:pt x="33791" y="548640"/>
                    <a:pt x="0" y="507746"/>
                    <a:pt x="0" y="457200"/>
                  </a:cubicBezTo>
                  <a:close/>
                </a:path>
              </a:pathLst>
            </a:custGeom>
            <a:solidFill>
              <a:srgbClr val="1F2D32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899917" y="6959713"/>
            <a:ext cx="1541353" cy="342900"/>
            <a:chOff x="0" y="0"/>
            <a:chExt cx="2055138" cy="4572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055138" cy="457200"/>
            </a:xfrm>
            <a:custGeom>
              <a:avLst/>
              <a:gdLst/>
              <a:ahLst/>
              <a:cxnLst/>
              <a:rect r="r" b="b" t="t" l="l"/>
              <a:pathLst>
                <a:path h="457200" w="2055138">
                  <a:moveTo>
                    <a:pt x="0" y="0"/>
                  </a:moveTo>
                  <a:lnTo>
                    <a:pt x="2055138" y="0"/>
                  </a:lnTo>
                  <a:lnTo>
                    <a:pt x="205513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98" r="-21021" b="-5599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205513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clip on event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8843250" y="7659229"/>
            <a:ext cx="1677355" cy="658368"/>
            <a:chOff x="0" y="0"/>
            <a:chExt cx="2236473" cy="87782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36473" cy="877824"/>
            </a:xfrm>
            <a:custGeom>
              <a:avLst/>
              <a:gdLst/>
              <a:ahLst/>
              <a:cxnLst/>
              <a:rect r="r" b="b" t="t" l="l"/>
              <a:pathLst>
                <a:path h="877824" w="2236473">
                  <a:moveTo>
                    <a:pt x="0" y="0"/>
                  </a:moveTo>
                  <a:lnTo>
                    <a:pt x="2236473" y="0"/>
                  </a:lnTo>
                  <a:lnTo>
                    <a:pt x="2236473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-21021" b="-1007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2236473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Store-and-forward</a:t>
              </a:r>
            </a:p>
            <a:p>
              <a:pPr algn="ctr">
                <a:lnSpc>
                  <a:spcPts val="1769"/>
                </a:lnSpc>
              </a:pPr>
              <a:r>
                <a:rPr lang="en-US" sz="147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when offline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1124742" y="3370312"/>
            <a:ext cx="6872496" cy="5258562"/>
            <a:chOff x="0" y="0"/>
            <a:chExt cx="9163328" cy="701141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163328" cy="7011416"/>
            </a:xfrm>
            <a:custGeom>
              <a:avLst/>
              <a:gdLst/>
              <a:ahLst/>
              <a:cxnLst/>
              <a:rect r="r" b="b" t="t" l="l"/>
              <a:pathLst>
                <a:path h="7011416" w="9163328">
                  <a:moveTo>
                    <a:pt x="0" y="1168654"/>
                  </a:moveTo>
                  <a:cubicBezTo>
                    <a:pt x="0" y="523240"/>
                    <a:pt x="432351" y="0"/>
                    <a:pt x="965654" y="0"/>
                  </a:cubicBezTo>
                  <a:lnTo>
                    <a:pt x="8197673" y="0"/>
                  </a:lnTo>
                  <a:cubicBezTo>
                    <a:pt x="8730976" y="0"/>
                    <a:pt x="9163328" y="523240"/>
                    <a:pt x="9163328" y="1168654"/>
                  </a:cubicBezTo>
                  <a:lnTo>
                    <a:pt x="9163328" y="5842762"/>
                  </a:lnTo>
                  <a:cubicBezTo>
                    <a:pt x="9163328" y="6488176"/>
                    <a:pt x="8730976" y="7011416"/>
                    <a:pt x="8197673" y="7011416"/>
                  </a:cubicBezTo>
                  <a:lnTo>
                    <a:pt x="965654" y="7011416"/>
                  </a:lnTo>
                  <a:cubicBezTo>
                    <a:pt x="432351" y="7011416"/>
                    <a:pt x="0" y="6488176"/>
                    <a:pt x="0" y="5842762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008304" y="3566303"/>
            <a:ext cx="2910785" cy="514582"/>
            <a:chOff x="0" y="0"/>
            <a:chExt cx="3475600" cy="61443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475600" cy="614433"/>
            </a:xfrm>
            <a:custGeom>
              <a:avLst/>
              <a:gdLst/>
              <a:ahLst/>
              <a:cxnLst/>
              <a:rect r="r" b="b" t="t" l="l"/>
              <a:pathLst>
                <a:path h="614433" w="3475600">
                  <a:moveTo>
                    <a:pt x="0" y="102405"/>
                  </a:moveTo>
                  <a:cubicBezTo>
                    <a:pt x="0" y="45869"/>
                    <a:pt x="31587" y="0"/>
                    <a:pt x="70519" y="0"/>
                  </a:cubicBezTo>
                  <a:lnTo>
                    <a:pt x="3405081" y="0"/>
                  </a:lnTo>
                  <a:cubicBezTo>
                    <a:pt x="3444013" y="0"/>
                    <a:pt x="3475600" y="45869"/>
                    <a:pt x="3475600" y="102405"/>
                  </a:cubicBezTo>
                  <a:lnTo>
                    <a:pt x="3475600" y="512028"/>
                  </a:lnTo>
                  <a:cubicBezTo>
                    <a:pt x="3475600" y="568564"/>
                    <a:pt x="3444013" y="614433"/>
                    <a:pt x="3405081" y="614433"/>
                  </a:cubicBezTo>
                  <a:lnTo>
                    <a:pt x="70519" y="614433"/>
                  </a:lnTo>
                  <a:cubicBezTo>
                    <a:pt x="31587" y="614433"/>
                    <a:pt x="0" y="568564"/>
                    <a:pt x="0" y="512028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234973" y="3566303"/>
            <a:ext cx="2493365" cy="514582"/>
            <a:chOff x="0" y="0"/>
            <a:chExt cx="3324487" cy="68611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324485" cy="686110"/>
            </a:xfrm>
            <a:custGeom>
              <a:avLst/>
              <a:gdLst/>
              <a:ahLst/>
              <a:cxnLst/>
              <a:rect r="r" b="b" t="t" l="l"/>
              <a:pathLst>
                <a:path h="686110" w="3324485">
                  <a:moveTo>
                    <a:pt x="0" y="0"/>
                  </a:moveTo>
                  <a:lnTo>
                    <a:pt x="3324485" y="0"/>
                  </a:lnTo>
                  <a:lnTo>
                    <a:pt x="3324485" y="686110"/>
                  </a:lnTo>
                  <a:lnTo>
                    <a:pt x="0" y="686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75" r="-21022" b="-4624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3324487" cy="686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9"/>
                </a:lnSpc>
              </a:pPr>
              <a:r>
                <a:rPr lang="en-US" sz="15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CENTRAL URBAN INTELLIGENCE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453413" y="4261852"/>
            <a:ext cx="2939779" cy="800862"/>
            <a:chOff x="0" y="0"/>
            <a:chExt cx="3919705" cy="106781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919705" cy="1067816"/>
            </a:xfrm>
            <a:custGeom>
              <a:avLst/>
              <a:gdLst/>
              <a:ahLst/>
              <a:cxnLst/>
              <a:rect r="r" b="b" t="t" l="l"/>
              <a:pathLst>
                <a:path h="1067816" w="3919705">
                  <a:moveTo>
                    <a:pt x="0" y="177927"/>
                  </a:moveTo>
                  <a:cubicBezTo>
                    <a:pt x="0" y="79629"/>
                    <a:pt x="65797" y="0"/>
                    <a:pt x="147020" y="0"/>
                  </a:cubicBezTo>
                  <a:lnTo>
                    <a:pt x="3772684" y="0"/>
                  </a:lnTo>
                  <a:cubicBezTo>
                    <a:pt x="3853907" y="0"/>
                    <a:pt x="3919705" y="79629"/>
                    <a:pt x="3919705" y="177927"/>
                  </a:cubicBezTo>
                  <a:lnTo>
                    <a:pt x="3919705" y="889889"/>
                  </a:lnTo>
                  <a:cubicBezTo>
                    <a:pt x="3919705" y="988187"/>
                    <a:pt x="3853907" y="1067816"/>
                    <a:pt x="3772684" y="1067816"/>
                  </a:cubicBezTo>
                  <a:lnTo>
                    <a:pt x="147020" y="1067816"/>
                  </a:lnTo>
                  <a:cubicBezTo>
                    <a:pt x="65797" y="1067816"/>
                    <a:pt x="0" y="988187"/>
                    <a:pt x="0" y="889889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2F3F48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608619" y="4338400"/>
            <a:ext cx="2629367" cy="285982"/>
            <a:chOff x="0" y="0"/>
            <a:chExt cx="3505823" cy="38131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505823" cy="381310"/>
            </a:xfrm>
            <a:custGeom>
              <a:avLst/>
              <a:gdLst/>
              <a:ahLst/>
              <a:cxnLst/>
              <a:rect r="r" b="b" t="t" l="l"/>
              <a:pathLst>
                <a:path h="381310" w="3505823">
                  <a:moveTo>
                    <a:pt x="0" y="0"/>
                  </a:moveTo>
                  <a:lnTo>
                    <a:pt x="3505823" y="0"/>
                  </a:lnTo>
                  <a:lnTo>
                    <a:pt x="3505823" y="381310"/>
                  </a:lnTo>
                  <a:lnTo>
                    <a:pt x="0" y="3813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644" r="-21021" b="-159973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3505823" cy="381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 fusion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608619" y="4669141"/>
            <a:ext cx="2629367" cy="249078"/>
            <a:chOff x="0" y="0"/>
            <a:chExt cx="3505823" cy="33210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505823" cy="332104"/>
            </a:xfrm>
            <a:custGeom>
              <a:avLst/>
              <a:gdLst/>
              <a:ahLst/>
              <a:cxnLst/>
              <a:rect r="r" b="b" t="t" l="l"/>
              <a:pathLst>
                <a:path h="332104" w="3505823">
                  <a:moveTo>
                    <a:pt x="0" y="0"/>
                  </a:moveTo>
                  <a:lnTo>
                    <a:pt x="3505823" y="0"/>
                  </a:lnTo>
                  <a:lnTo>
                    <a:pt x="3505823" y="332104"/>
                  </a:lnTo>
                  <a:lnTo>
                    <a:pt x="0" y="332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878" r="-21021" b="-192986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3505823" cy="3321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9"/>
                </a:lnSpc>
              </a:pPr>
              <a:r>
                <a:rPr lang="en-US" sz="1324" b="true">
                  <a:solidFill>
                    <a:srgbClr val="FF7E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dedup + correlation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649454" y="4261852"/>
            <a:ext cx="2939779" cy="800862"/>
            <a:chOff x="0" y="0"/>
            <a:chExt cx="3919705" cy="106781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919705" cy="1067816"/>
            </a:xfrm>
            <a:custGeom>
              <a:avLst/>
              <a:gdLst/>
              <a:ahLst/>
              <a:cxnLst/>
              <a:rect r="r" b="b" t="t" l="l"/>
              <a:pathLst>
                <a:path h="1067816" w="3919705">
                  <a:moveTo>
                    <a:pt x="0" y="177927"/>
                  </a:moveTo>
                  <a:cubicBezTo>
                    <a:pt x="0" y="79629"/>
                    <a:pt x="65797" y="0"/>
                    <a:pt x="147020" y="0"/>
                  </a:cubicBezTo>
                  <a:lnTo>
                    <a:pt x="3772684" y="0"/>
                  </a:lnTo>
                  <a:cubicBezTo>
                    <a:pt x="3853907" y="0"/>
                    <a:pt x="3919705" y="79629"/>
                    <a:pt x="3919705" y="177927"/>
                  </a:cubicBezTo>
                  <a:lnTo>
                    <a:pt x="3919705" y="889889"/>
                  </a:lnTo>
                  <a:cubicBezTo>
                    <a:pt x="3919705" y="988187"/>
                    <a:pt x="3853907" y="1067816"/>
                    <a:pt x="3772684" y="1067816"/>
                  </a:cubicBezTo>
                  <a:lnTo>
                    <a:pt x="147020" y="1067816"/>
                  </a:lnTo>
                  <a:cubicBezTo>
                    <a:pt x="65797" y="1067816"/>
                    <a:pt x="0" y="988187"/>
                    <a:pt x="0" y="889889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2F3F48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14804660" y="4338400"/>
            <a:ext cx="2629367" cy="285982"/>
            <a:chOff x="0" y="0"/>
            <a:chExt cx="3505823" cy="38131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505823" cy="381310"/>
            </a:xfrm>
            <a:custGeom>
              <a:avLst/>
              <a:gdLst/>
              <a:ahLst/>
              <a:cxnLst/>
              <a:rect r="r" b="b" t="t" l="l"/>
              <a:pathLst>
                <a:path h="381310" w="3505823">
                  <a:moveTo>
                    <a:pt x="0" y="0"/>
                  </a:moveTo>
                  <a:lnTo>
                    <a:pt x="3505823" y="0"/>
                  </a:lnTo>
                  <a:lnTo>
                    <a:pt x="3505823" y="381310"/>
                  </a:lnTo>
                  <a:lnTo>
                    <a:pt x="0" y="3813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644" r="-21021" b="-15997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3505823" cy="381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Geo engine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4804660" y="4669141"/>
            <a:ext cx="2629367" cy="249078"/>
            <a:chOff x="0" y="0"/>
            <a:chExt cx="3505823" cy="33210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505823" cy="332104"/>
            </a:xfrm>
            <a:custGeom>
              <a:avLst/>
              <a:gdLst/>
              <a:ahLst/>
              <a:cxnLst/>
              <a:rect r="r" b="b" t="t" l="l"/>
              <a:pathLst>
                <a:path h="332104" w="3505823">
                  <a:moveTo>
                    <a:pt x="0" y="0"/>
                  </a:moveTo>
                  <a:lnTo>
                    <a:pt x="3505823" y="0"/>
                  </a:lnTo>
                  <a:lnTo>
                    <a:pt x="3505823" y="332104"/>
                  </a:lnTo>
                  <a:lnTo>
                    <a:pt x="0" y="332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878" r="-21021" b="-192986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0"/>
              <a:ext cx="3505823" cy="3321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9"/>
                </a:lnSpc>
              </a:pPr>
              <a:r>
                <a:rPr lang="en-US" sz="1324" b="true">
                  <a:solidFill>
                    <a:srgbClr val="37B9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PostGIS + map matching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1453413" y="5331700"/>
            <a:ext cx="2939779" cy="800862"/>
            <a:chOff x="0" y="0"/>
            <a:chExt cx="3919705" cy="106781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919705" cy="1067816"/>
            </a:xfrm>
            <a:custGeom>
              <a:avLst/>
              <a:gdLst/>
              <a:ahLst/>
              <a:cxnLst/>
              <a:rect r="r" b="b" t="t" l="l"/>
              <a:pathLst>
                <a:path h="1067816" w="3919705">
                  <a:moveTo>
                    <a:pt x="0" y="177927"/>
                  </a:moveTo>
                  <a:cubicBezTo>
                    <a:pt x="0" y="79629"/>
                    <a:pt x="65797" y="0"/>
                    <a:pt x="147020" y="0"/>
                  </a:cubicBezTo>
                  <a:lnTo>
                    <a:pt x="3772684" y="0"/>
                  </a:lnTo>
                  <a:cubicBezTo>
                    <a:pt x="3853907" y="0"/>
                    <a:pt x="3919705" y="79629"/>
                    <a:pt x="3919705" y="177927"/>
                  </a:cubicBezTo>
                  <a:lnTo>
                    <a:pt x="3919705" y="889889"/>
                  </a:lnTo>
                  <a:cubicBezTo>
                    <a:pt x="3919705" y="988187"/>
                    <a:pt x="3853907" y="1067816"/>
                    <a:pt x="3772684" y="1067816"/>
                  </a:cubicBezTo>
                  <a:lnTo>
                    <a:pt x="147020" y="1067816"/>
                  </a:lnTo>
                  <a:cubicBezTo>
                    <a:pt x="65797" y="1067816"/>
                    <a:pt x="0" y="988187"/>
                    <a:pt x="0" y="889889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2F3F48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11608619" y="5408248"/>
            <a:ext cx="2629367" cy="285982"/>
            <a:chOff x="0" y="0"/>
            <a:chExt cx="3505823" cy="38131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505823" cy="381310"/>
            </a:xfrm>
            <a:custGeom>
              <a:avLst/>
              <a:gdLst/>
              <a:ahLst/>
              <a:cxnLst/>
              <a:rect r="r" b="b" t="t" l="l"/>
              <a:pathLst>
                <a:path h="381310" w="3505823">
                  <a:moveTo>
                    <a:pt x="0" y="0"/>
                  </a:moveTo>
                  <a:lnTo>
                    <a:pt x="3505823" y="0"/>
                  </a:lnTo>
                  <a:lnTo>
                    <a:pt x="3505823" y="381310"/>
                  </a:lnTo>
                  <a:lnTo>
                    <a:pt x="0" y="3813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644" r="-21021" b="-159973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0"/>
              <a:ext cx="3505823" cy="381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Traffic analytics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1608619" y="5738989"/>
            <a:ext cx="2629367" cy="249078"/>
            <a:chOff x="0" y="0"/>
            <a:chExt cx="3505823" cy="33210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505823" cy="332104"/>
            </a:xfrm>
            <a:custGeom>
              <a:avLst/>
              <a:gdLst/>
              <a:ahLst/>
              <a:cxnLst/>
              <a:rect r="r" b="b" t="t" l="l"/>
              <a:pathLst>
                <a:path h="332104" w="3505823">
                  <a:moveTo>
                    <a:pt x="0" y="0"/>
                  </a:moveTo>
                  <a:lnTo>
                    <a:pt x="3505823" y="0"/>
                  </a:lnTo>
                  <a:lnTo>
                    <a:pt x="3505823" y="332104"/>
                  </a:lnTo>
                  <a:lnTo>
                    <a:pt x="0" y="332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878" r="-21021" b="-19298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3505823" cy="3321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9"/>
                </a:lnSpc>
              </a:pPr>
              <a:r>
                <a:rPr lang="en-US" sz="1324" b="true">
                  <a:solidFill>
                    <a:srgbClr val="4C91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counts + OD + delays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4649454" y="5331700"/>
            <a:ext cx="2939779" cy="800862"/>
            <a:chOff x="0" y="0"/>
            <a:chExt cx="3919705" cy="106781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919705" cy="1067816"/>
            </a:xfrm>
            <a:custGeom>
              <a:avLst/>
              <a:gdLst/>
              <a:ahLst/>
              <a:cxnLst/>
              <a:rect r="r" b="b" t="t" l="l"/>
              <a:pathLst>
                <a:path h="1067816" w="3919705">
                  <a:moveTo>
                    <a:pt x="0" y="177927"/>
                  </a:moveTo>
                  <a:cubicBezTo>
                    <a:pt x="0" y="79629"/>
                    <a:pt x="65797" y="0"/>
                    <a:pt x="147020" y="0"/>
                  </a:cubicBezTo>
                  <a:lnTo>
                    <a:pt x="3772684" y="0"/>
                  </a:lnTo>
                  <a:cubicBezTo>
                    <a:pt x="3853907" y="0"/>
                    <a:pt x="3919705" y="79629"/>
                    <a:pt x="3919705" y="177927"/>
                  </a:cubicBezTo>
                  <a:lnTo>
                    <a:pt x="3919705" y="889889"/>
                  </a:lnTo>
                  <a:cubicBezTo>
                    <a:pt x="3919705" y="988187"/>
                    <a:pt x="3853907" y="1067816"/>
                    <a:pt x="3772684" y="1067816"/>
                  </a:cubicBezTo>
                  <a:lnTo>
                    <a:pt x="147020" y="1067816"/>
                  </a:lnTo>
                  <a:cubicBezTo>
                    <a:pt x="65797" y="1067816"/>
                    <a:pt x="0" y="988187"/>
                    <a:pt x="0" y="889889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2F3F48"/>
              </a:solidFill>
              <a:prstDash val="solid"/>
              <a:miter/>
            </a:ln>
          </p:spPr>
        </p:sp>
      </p:grpSp>
      <p:grpSp>
        <p:nvGrpSpPr>
          <p:cNvPr name="Group 142" id="142"/>
          <p:cNvGrpSpPr/>
          <p:nvPr/>
        </p:nvGrpSpPr>
        <p:grpSpPr>
          <a:xfrm rot="0">
            <a:off x="14804660" y="5408248"/>
            <a:ext cx="2629367" cy="285982"/>
            <a:chOff x="0" y="0"/>
            <a:chExt cx="3505823" cy="38131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3505823" cy="381310"/>
            </a:xfrm>
            <a:custGeom>
              <a:avLst/>
              <a:gdLst/>
              <a:ahLst/>
              <a:cxnLst/>
              <a:rect r="r" b="b" t="t" l="l"/>
              <a:pathLst>
                <a:path h="381310" w="3505823">
                  <a:moveTo>
                    <a:pt x="0" y="0"/>
                  </a:moveTo>
                  <a:lnTo>
                    <a:pt x="3505823" y="0"/>
                  </a:lnTo>
                  <a:lnTo>
                    <a:pt x="3505823" y="381310"/>
                  </a:lnTo>
                  <a:lnTo>
                    <a:pt x="0" y="3813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644" r="-21021" b="-159973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0"/>
              <a:ext cx="3505823" cy="381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Incident &amp; ANPR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4804660" y="5738989"/>
            <a:ext cx="2629367" cy="249078"/>
            <a:chOff x="0" y="0"/>
            <a:chExt cx="3505823" cy="33210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505823" cy="332104"/>
            </a:xfrm>
            <a:custGeom>
              <a:avLst/>
              <a:gdLst/>
              <a:ahLst/>
              <a:cxnLst/>
              <a:rect r="r" b="b" t="t" l="l"/>
              <a:pathLst>
                <a:path h="332104" w="3505823">
                  <a:moveTo>
                    <a:pt x="0" y="0"/>
                  </a:moveTo>
                  <a:lnTo>
                    <a:pt x="3505823" y="0"/>
                  </a:lnTo>
                  <a:lnTo>
                    <a:pt x="3505823" y="332104"/>
                  </a:lnTo>
                  <a:lnTo>
                    <a:pt x="0" y="332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878" r="-21021" b="-192986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0"/>
              <a:ext cx="3505823" cy="3321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9"/>
                </a:lnSpc>
              </a:pPr>
              <a:r>
                <a:rPr lang="en-US" sz="1324" b="true">
                  <a:solidFill>
                    <a:srgbClr val="F6C5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track + OCR + evidence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1453413" y="6401548"/>
            <a:ext cx="6056485" cy="800862"/>
            <a:chOff x="0" y="0"/>
            <a:chExt cx="8075314" cy="106781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8075314" cy="1067816"/>
            </a:xfrm>
            <a:custGeom>
              <a:avLst/>
              <a:gdLst/>
              <a:ahLst/>
              <a:cxnLst/>
              <a:rect r="r" b="b" t="t" l="l"/>
              <a:pathLst>
                <a:path h="1067816" w="8075314">
                  <a:moveTo>
                    <a:pt x="0" y="177927"/>
                  </a:moveTo>
                  <a:cubicBezTo>
                    <a:pt x="0" y="79629"/>
                    <a:pt x="65797" y="0"/>
                    <a:pt x="147020" y="0"/>
                  </a:cubicBezTo>
                  <a:lnTo>
                    <a:pt x="7928294" y="0"/>
                  </a:lnTo>
                  <a:cubicBezTo>
                    <a:pt x="8009517" y="0"/>
                    <a:pt x="8075314" y="79629"/>
                    <a:pt x="8075314" y="177927"/>
                  </a:cubicBezTo>
                  <a:lnTo>
                    <a:pt x="8075314" y="889889"/>
                  </a:lnTo>
                  <a:cubicBezTo>
                    <a:pt x="8075314" y="988187"/>
                    <a:pt x="8009517" y="1067816"/>
                    <a:pt x="7928294" y="1067816"/>
                  </a:cubicBezTo>
                  <a:lnTo>
                    <a:pt x="147020" y="1067816"/>
                  </a:lnTo>
                  <a:cubicBezTo>
                    <a:pt x="65797" y="1067816"/>
                    <a:pt x="0" y="988187"/>
                    <a:pt x="0" y="889889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2F3F48"/>
              </a:solidFill>
              <a:prstDash val="solid"/>
              <a:miter/>
            </a:ln>
          </p:spPr>
        </p:sp>
      </p:grpSp>
      <p:grpSp>
        <p:nvGrpSpPr>
          <p:cNvPr name="Group 150" id="150"/>
          <p:cNvGrpSpPr/>
          <p:nvPr/>
        </p:nvGrpSpPr>
        <p:grpSpPr>
          <a:xfrm rot="0">
            <a:off x="11608619" y="6478096"/>
            <a:ext cx="5746074" cy="285982"/>
            <a:chOff x="0" y="0"/>
            <a:chExt cx="7661432" cy="38131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7661432" cy="381310"/>
            </a:xfrm>
            <a:custGeom>
              <a:avLst/>
              <a:gdLst/>
              <a:ahLst/>
              <a:cxnLst/>
              <a:rect r="r" b="b" t="t" l="l"/>
              <a:pathLst>
                <a:path h="381310" w="7661432">
                  <a:moveTo>
                    <a:pt x="0" y="0"/>
                  </a:moveTo>
                  <a:lnTo>
                    <a:pt x="7661432" y="0"/>
                  </a:lnTo>
                  <a:lnTo>
                    <a:pt x="7661432" y="381310"/>
                  </a:lnTo>
                  <a:lnTo>
                    <a:pt x="0" y="3813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7" r="-21021" b="-416967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0"/>
              <a:ext cx="7661432" cy="381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Command dashboard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1608619" y="6808837"/>
            <a:ext cx="5746074" cy="249078"/>
            <a:chOff x="0" y="0"/>
            <a:chExt cx="7661432" cy="332104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661432" cy="332104"/>
            </a:xfrm>
            <a:custGeom>
              <a:avLst/>
              <a:gdLst/>
              <a:ahLst/>
              <a:cxnLst/>
              <a:rect r="r" b="b" t="t" l="l"/>
              <a:pathLst>
                <a:path h="332104" w="7661432">
                  <a:moveTo>
                    <a:pt x="0" y="0"/>
                  </a:moveTo>
                  <a:lnTo>
                    <a:pt x="7661432" y="0"/>
                  </a:lnTo>
                  <a:lnTo>
                    <a:pt x="7661432" y="332104"/>
                  </a:lnTo>
                  <a:lnTo>
                    <a:pt x="0" y="332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950" r="-21021" b="-488057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0"/>
              <a:ext cx="7661432" cy="3321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9"/>
                </a:lnSpc>
              </a:pPr>
              <a:r>
                <a:rPr lang="en-US" sz="1324" b="true">
                  <a:solidFill>
                    <a:srgbClr val="15A0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GIS + alerts + reports</a:t>
              </a:r>
            </a:p>
          </p:txBody>
        </p:sp>
      </p:grpSp>
      <p:sp>
        <p:nvSpPr>
          <p:cNvPr name="AutoShape 156" id="156"/>
          <p:cNvSpPr/>
          <p:nvPr/>
        </p:nvSpPr>
        <p:spPr>
          <a:xfrm>
            <a:off x="12688205" y="8176245"/>
            <a:ext cx="3049524" cy="45723"/>
          </a:xfrm>
          <a:prstGeom prst="line">
            <a:avLst/>
          </a:prstGeom>
          <a:ln cap="rnd" w="19050">
            <a:solidFill>
              <a:srgbClr val="15A0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7" id="157"/>
          <p:cNvGrpSpPr/>
          <p:nvPr/>
        </p:nvGrpSpPr>
        <p:grpSpPr>
          <a:xfrm rot="0">
            <a:off x="13348308" y="7837537"/>
            <a:ext cx="2266696" cy="301752"/>
            <a:chOff x="0" y="0"/>
            <a:chExt cx="3022261" cy="40233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3022261" cy="402336"/>
            </a:xfrm>
            <a:custGeom>
              <a:avLst/>
              <a:gdLst/>
              <a:ahLst/>
              <a:cxnLst/>
              <a:rect r="r" b="b" t="t" l="l"/>
              <a:pathLst>
                <a:path h="402336" w="3022261">
                  <a:moveTo>
                    <a:pt x="0" y="0"/>
                  </a:moveTo>
                  <a:lnTo>
                    <a:pt x="3022261" y="0"/>
                  </a:lnTo>
                  <a:lnTo>
                    <a:pt x="3022261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-21021" b="-127136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3022261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9"/>
                </a:lnSpc>
              </a:pPr>
              <a:r>
                <a:rPr lang="en-US" sz="1549" b="true">
                  <a:solidFill>
                    <a:srgbClr val="15A0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ACTIONABLE OUTPUTS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1472617" y="8221585"/>
            <a:ext cx="5836742" cy="492756"/>
            <a:chOff x="0" y="0"/>
            <a:chExt cx="7782322" cy="65700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7782322" cy="657008"/>
            </a:xfrm>
            <a:custGeom>
              <a:avLst/>
              <a:gdLst/>
              <a:ahLst/>
              <a:cxnLst/>
              <a:rect r="r" b="b" t="t" l="l"/>
              <a:pathLst>
                <a:path h="657008" w="7782322">
                  <a:moveTo>
                    <a:pt x="0" y="0"/>
                  </a:moveTo>
                  <a:lnTo>
                    <a:pt x="7782322" y="0"/>
                  </a:lnTo>
                  <a:lnTo>
                    <a:pt x="7782322" y="657008"/>
                  </a:lnTo>
                  <a:lnTo>
                    <a:pt x="0" y="65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52" r="-21021" b="-21829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0"/>
              <a:ext cx="7782322" cy="65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>
                  <a:solidFill>
                    <a:srgbClr val="F5F7F9"/>
                  </a:solidFill>
                  <a:latin typeface="Aptos"/>
                  <a:ea typeface="Aptos"/>
                  <a:cs typeface="Aptos"/>
                  <a:sym typeface="Aptos"/>
                </a:rPr>
                <a:t>maintenance priority • congestion heatmap • incident evidence • route delay / OD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028700" y="8982837"/>
            <a:ext cx="2186178" cy="430530"/>
            <a:chOff x="0" y="0"/>
            <a:chExt cx="2914904" cy="5740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914904" cy="574040"/>
            </a:xfrm>
            <a:custGeom>
              <a:avLst/>
              <a:gdLst/>
              <a:ahLst/>
              <a:cxnLst/>
              <a:rect r="r" b="b" t="t" l="l"/>
              <a:pathLst>
                <a:path h="574040" w="2914904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819273" y="0"/>
                  </a:lnTo>
                  <a:cubicBezTo>
                    <a:pt x="2872105" y="0"/>
                    <a:pt x="2914904" y="42799"/>
                    <a:pt x="2914904" y="95631"/>
                  </a:cubicBezTo>
                  <a:lnTo>
                    <a:pt x="2914904" y="478409"/>
                  </a:lnTo>
                  <a:cubicBezTo>
                    <a:pt x="2914904" y="531241"/>
                    <a:pt x="2872105" y="574040"/>
                    <a:pt x="2819273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82228"/>
            </a:solidFill>
            <a:ln w="19050" cap="sq">
              <a:solidFill>
                <a:srgbClr val="31414A"/>
              </a:solidFill>
              <a:prstDash val="solid"/>
              <a:miter/>
            </a:ln>
          </p:spPr>
        </p:sp>
      </p:grpSp>
      <p:grpSp>
        <p:nvGrpSpPr>
          <p:cNvPr name="Group 165" id="165"/>
          <p:cNvGrpSpPr/>
          <p:nvPr/>
        </p:nvGrpSpPr>
        <p:grpSpPr>
          <a:xfrm rot="0">
            <a:off x="1106805" y="9006078"/>
            <a:ext cx="2029968" cy="342900"/>
            <a:chOff x="0" y="0"/>
            <a:chExt cx="2706624" cy="4572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706624" cy="457200"/>
            </a:xfrm>
            <a:custGeom>
              <a:avLst/>
              <a:gdLst/>
              <a:ahLst/>
              <a:cxnLst/>
              <a:rect r="r" b="b" t="t" l="l"/>
              <a:pathLst>
                <a:path h="45720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51" r="0" b="-65351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0"/>
              <a:ext cx="2706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29"/>
                </a:lnSpc>
              </a:pPr>
              <a:r>
                <a:rPr lang="en-US" sz="1524" b="true">
                  <a:solidFill>
                    <a:srgbClr val="B2B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Python / FastAPI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3401568" y="8982837"/>
            <a:ext cx="2186178" cy="430530"/>
            <a:chOff x="0" y="0"/>
            <a:chExt cx="2914904" cy="57404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914904" cy="574040"/>
            </a:xfrm>
            <a:custGeom>
              <a:avLst/>
              <a:gdLst/>
              <a:ahLst/>
              <a:cxnLst/>
              <a:rect r="r" b="b" t="t" l="l"/>
              <a:pathLst>
                <a:path h="574040" w="2914904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819273" y="0"/>
                  </a:lnTo>
                  <a:cubicBezTo>
                    <a:pt x="2872105" y="0"/>
                    <a:pt x="2914904" y="42799"/>
                    <a:pt x="2914904" y="95631"/>
                  </a:cubicBezTo>
                  <a:lnTo>
                    <a:pt x="2914904" y="478409"/>
                  </a:lnTo>
                  <a:cubicBezTo>
                    <a:pt x="2914904" y="531241"/>
                    <a:pt x="2872105" y="574040"/>
                    <a:pt x="2819273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82228"/>
            </a:solidFill>
            <a:ln w="19050" cap="sq">
              <a:solidFill>
                <a:srgbClr val="31414A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3479673" y="9006078"/>
            <a:ext cx="2029968" cy="342900"/>
            <a:chOff x="0" y="0"/>
            <a:chExt cx="2706624" cy="45720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706624" cy="457200"/>
            </a:xfrm>
            <a:custGeom>
              <a:avLst/>
              <a:gdLst/>
              <a:ahLst/>
              <a:cxnLst/>
              <a:rect r="r" b="b" t="t" l="l"/>
              <a:pathLst>
                <a:path h="45720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51" r="0" b="-65351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0"/>
              <a:ext cx="2706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29"/>
                </a:lnSpc>
              </a:pPr>
              <a:r>
                <a:rPr lang="en-US" sz="1524" b="true">
                  <a:solidFill>
                    <a:srgbClr val="B2B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YOLO + ByteTrack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5774436" y="8982837"/>
            <a:ext cx="2186178" cy="430530"/>
            <a:chOff x="0" y="0"/>
            <a:chExt cx="2914904" cy="57404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914904" cy="574040"/>
            </a:xfrm>
            <a:custGeom>
              <a:avLst/>
              <a:gdLst/>
              <a:ahLst/>
              <a:cxnLst/>
              <a:rect r="r" b="b" t="t" l="l"/>
              <a:pathLst>
                <a:path h="574040" w="2914904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819273" y="0"/>
                  </a:lnTo>
                  <a:cubicBezTo>
                    <a:pt x="2872105" y="0"/>
                    <a:pt x="2914904" y="42799"/>
                    <a:pt x="2914904" y="95631"/>
                  </a:cubicBezTo>
                  <a:lnTo>
                    <a:pt x="2914904" y="478409"/>
                  </a:lnTo>
                  <a:cubicBezTo>
                    <a:pt x="2914904" y="531241"/>
                    <a:pt x="2872105" y="574040"/>
                    <a:pt x="2819273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82228"/>
            </a:solidFill>
            <a:ln w="19050" cap="sq">
              <a:solidFill>
                <a:srgbClr val="31414A"/>
              </a:solidFill>
              <a:prstDash val="solid"/>
              <a:miter/>
            </a:ln>
          </p:spPr>
        </p:sp>
      </p:grpSp>
      <p:grpSp>
        <p:nvGrpSpPr>
          <p:cNvPr name="Group 175" id="175"/>
          <p:cNvGrpSpPr/>
          <p:nvPr/>
        </p:nvGrpSpPr>
        <p:grpSpPr>
          <a:xfrm rot="0">
            <a:off x="5852541" y="9006078"/>
            <a:ext cx="2029968" cy="342900"/>
            <a:chOff x="0" y="0"/>
            <a:chExt cx="2706624" cy="45720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706624" cy="457200"/>
            </a:xfrm>
            <a:custGeom>
              <a:avLst/>
              <a:gdLst/>
              <a:ahLst/>
              <a:cxnLst/>
              <a:rect r="r" b="b" t="t" l="l"/>
              <a:pathLst>
                <a:path h="45720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51" r="0" b="-65351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0"/>
              <a:ext cx="2706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29"/>
                </a:lnSpc>
              </a:pPr>
              <a:r>
                <a:rPr lang="en-US" sz="1524" b="true">
                  <a:solidFill>
                    <a:srgbClr val="B2B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ONNX / TensorRT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8147304" y="8982837"/>
            <a:ext cx="2186178" cy="430530"/>
            <a:chOff x="0" y="0"/>
            <a:chExt cx="2914904" cy="57404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914904" cy="574040"/>
            </a:xfrm>
            <a:custGeom>
              <a:avLst/>
              <a:gdLst/>
              <a:ahLst/>
              <a:cxnLst/>
              <a:rect r="r" b="b" t="t" l="l"/>
              <a:pathLst>
                <a:path h="574040" w="2914904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819273" y="0"/>
                  </a:lnTo>
                  <a:cubicBezTo>
                    <a:pt x="2872105" y="0"/>
                    <a:pt x="2914904" y="42799"/>
                    <a:pt x="2914904" y="95631"/>
                  </a:cubicBezTo>
                  <a:lnTo>
                    <a:pt x="2914904" y="478409"/>
                  </a:lnTo>
                  <a:cubicBezTo>
                    <a:pt x="2914904" y="531241"/>
                    <a:pt x="2872105" y="574040"/>
                    <a:pt x="2819273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82228"/>
            </a:solidFill>
            <a:ln w="19050" cap="sq">
              <a:solidFill>
                <a:srgbClr val="31414A"/>
              </a:solidFill>
              <a:prstDash val="solid"/>
              <a:miter/>
            </a:ln>
          </p:spPr>
        </p:sp>
      </p:grpSp>
      <p:grpSp>
        <p:nvGrpSpPr>
          <p:cNvPr name="Group 180" id="180"/>
          <p:cNvGrpSpPr/>
          <p:nvPr/>
        </p:nvGrpSpPr>
        <p:grpSpPr>
          <a:xfrm rot="0">
            <a:off x="8225409" y="9006078"/>
            <a:ext cx="2029968" cy="342900"/>
            <a:chOff x="0" y="0"/>
            <a:chExt cx="2706624" cy="4572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706624" cy="457200"/>
            </a:xfrm>
            <a:custGeom>
              <a:avLst/>
              <a:gdLst/>
              <a:ahLst/>
              <a:cxnLst/>
              <a:rect r="r" b="b" t="t" l="l"/>
              <a:pathLst>
                <a:path h="45720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51" r="0" b="-65351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0"/>
              <a:ext cx="2706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29"/>
                </a:lnSpc>
              </a:pPr>
              <a:r>
                <a:rPr lang="en-US" sz="1524" b="true">
                  <a:solidFill>
                    <a:srgbClr val="B2B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DeepStream / edge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0520172" y="8982837"/>
            <a:ext cx="2186178" cy="430530"/>
            <a:chOff x="0" y="0"/>
            <a:chExt cx="2914904" cy="57404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914904" cy="574040"/>
            </a:xfrm>
            <a:custGeom>
              <a:avLst/>
              <a:gdLst/>
              <a:ahLst/>
              <a:cxnLst/>
              <a:rect r="r" b="b" t="t" l="l"/>
              <a:pathLst>
                <a:path h="574040" w="2914904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819273" y="0"/>
                  </a:lnTo>
                  <a:cubicBezTo>
                    <a:pt x="2872105" y="0"/>
                    <a:pt x="2914904" y="42799"/>
                    <a:pt x="2914904" y="95631"/>
                  </a:cubicBezTo>
                  <a:lnTo>
                    <a:pt x="2914904" y="478409"/>
                  </a:lnTo>
                  <a:cubicBezTo>
                    <a:pt x="2914904" y="531241"/>
                    <a:pt x="2872105" y="574040"/>
                    <a:pt x="2819273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82228"/>
            </a:solidFill>
            <a:ln w="19050" cap="sq">
              <a:solidFill>
                <a:srgbClr val="31414A"/>
              </a:solidFill>
              <a:prstDash val="solid"/>
              <a:miter/>
            </a:ln>
          </p:spPr>
        </p:sp>
      </p:grpSp>
      <p:grpSp>
        <p:nvGrpSpPr>
          <p:cNvPr name="Group 185" id="185"/>
          <p:cNvGrpSpPr/>
          <p:nvPr/>
        </p:nvGrpSpPr>
        <p:grpSpPr>
          <a:xfrm rot="0">
            <a:off x="10598277" y="9006078"/>
            <a:ext cx="2029968" cy="342900"/>
            <a:chOff x="0" y="0"/>
            <a:chExt cx="2706624" cy="45720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706624" cy="457200"/>
            </a:xfrm>
            <a:custGeom>
              <a:avLst/>
              <a:gdLst/>
              <a:ahLst/>
              <a:cxnLst/>
              <a:rect r="r" b="b" t="t" l="l"/>
              <a:pathLst>
                <a:path h="45720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51" r="0" b="-6535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2706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29"/>
                </a:lnSpc>
              </a:pPr>
              <a:r>
                <a:rPr lang="en-US" sz="1524" b="true">
                  <a:solidFill>
                    <a:srgbClr val="B2B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 + PostGIS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2893040" y="8982837"/>
            <a:ext cx="2186178" cy="430530"/>
            <a:chOff x="0" y="0"/>
            <a:chExt cx="2914904" cy="57404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914904" cy="574040"/>
            </a:xfrm>
            <a:custGeom>
              <a:avLst/>
              <a:gdLst/>
              <a:ahLst/>
              <a:cxnLst/>
              <a:rect r="r" b="b" t="t" l="l"/>
              <a:pathLst>
                <a:path h="574040" w="2914904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819273" y="0"/>
                  </a:lnTo>
                  <a:cubicBezTo>
                    <a:pt x="2872105" y="0"/>
                    <a:pt x="2914904" y="42799"/>
                    <a:pt x="2914904" y="95631"/>
                  </a:cubicBezTo>
                  <a:lnTo>
                    <a:pt x="2914904" y="478409"/>
                  </a:lnTo>
                  <a:cubicBezTo>
                    <a:pt x="2914904" y="531241"/>
                    <a:pt x="2872105" y="574040"/>
                    <a:pt x="2819273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82228"/>
            </a:solidFill>
            <a:ln w="19050" cap="sq">
              <a:solidFill>
                <a:srgbClr val="31414A"/>
              </a:solidFill>
              <a:prstDash val="solid"/>
              <a:miter/>
            </a:ln>
          </p:spPr>
        </p:sp>
      </p:grpSp>
      <p:grpSp>
        <p:nvGrpSpPr>
          <p:cNvPr name="Group 190" id="190"/>
          <p:cNvGrpSpPr/>
          <p:nvPr/>
        </p:nvGrpSpPr>
        <p:grpSpPr>
          <a:xfrm rot="0">
            <a:off x="12971145" y="9006078"/>
            <a:ext cx="2029968" cy="342900"/>
            <a:chOff x="0" y="0"/>
            <a:chExt cx="2706624" cy="45720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706624" cy="457200"/>
            </a:xfrm>
            <a:custGeom>
              <a:avLst/>
              <a:gdLst/>
              <a:ahLst/>
              <a:cxnLst/>
              <a:rect r="r" b="b" t="t" l="l"/>
              <a:pathLst>
                <a:path h="45720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51" r="0" b="-65351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0"/>
              <a:ext cx="2706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29"/>
                </a:lnSpc>
              </a:pPr>
              <a:r>
                <a:rPr lang="en-US" sz="1524" b="true">
                  <a:solidFill>
                    <a:srgbClr val="B2B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MapLibre + H3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15265908" y="8982837"/>
            <a:ext cx="2186178" cy="430530"/>
            <a:chOff x="0" y="0"/>
            <a:chExt cx="2914904" cy="574040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2914904" cy="574040"/>
            </a:xfrm>
            <a:custGeom>
              <a:avLst/>
              <a:gdLst/>
              <a:ahLst/>
              <a:cxnLst/>
              <a:rect r="r" b="b" t="t" l="l"/>
              <a:pathLst>
                <a:path h="574040" w="2914904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819273" y="0"/>
                  </a:lnTo>
                  <a:cubicBezTo>
                    <a:pt x="2872105" y="0"/>
                    <a:pt x="2914904" y="42799"/>
                    <a:pt x="2914904" y="95631"/>
                  </a:cubicBezTo>
                  <a:lnTo>
                    <a:pt x="2914904" y="478409"/>
                  </a:lnTo>
                  <a:cubicBezTo>
                    <a:pt x="2914904" y="531241"/>
                    <a:pt x="2872105" y="574040"/>
                    <a:pt x="2819273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82228"/>
            </a:solidFill>
            <a:ln w="19050" cap="sq">
              <a:solidFill>
                <a:srgbClr val="31414A"/>
              </a:solidFill>
              <a:prstDash val="solid"/>
              <a:miter/>
            </a:ln>
          </p:spPr>
        </p:sp>
      </p:grpSp>
      <p:grpSp>
        <p:nvGrpSpPr>
          <p:cNvPr name="Group 195" id="195"/>
          <p:cNvGrpSpPr/>
          <p:nvPr/>
        </p:nvGrpSpPr>
        <p:grpSpPr>
          <a:xfrm rot="0">
            <a:off x="15344013" y="9006078"/>
            <a:ext cx="2029968" cy="342900"/>
            <a:chOff x="0" y="0"/>
            <a:chExt cx="2706624" cy="45720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706624" cy="457200"/>
            </a:xfrm>
            <a:custGeom>
              <a:avLst/>
              <a:gdLst/>
              <a:ahLst/>
              <a:cxnLst/>
              <a:rect r="r" b="b" t="t" l="l"/>
              <a:pathLst>
                <a:path h="45720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51" r="0" b="-65351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0"/>
              <a:ext cx="2706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29"/>
                </a:lnSpc>
              </a:pPr>
              <a:r>
                <a:rPr lang="en-US" sz="1524" b="true">
                  <a:solidFill>
                    <a:srgbClr val="B2B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 command map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151631" y="3991223"/>
            <a:ext cx="4236067" cy="527294"/>
            <a:chOff x="0" y="0"/>
            <a:chExt cx="6105274" cy="759968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6105273" cy="759968"/>
            </a:xfrm>
            <a:custGeom>
              <a:avLst/>
              <a:gdLst/>
              <a:ahLst/>
              <a:cxnLst/>
              <a:rect r="r" b="b" t="t" l="l"/>
              <a:pathLst>
                <a:path h="759968" w="6105273">
                  <a:moveTo>
                    <a:pt x="0" y="0"/>
                  </a:moveTo>
                  <a:lnTo>
                    <a:pt x="6105273" y="0"/>
                  </a:lnTo>
                  <a:lnTo>
                    <a:pt x="6105273" y="759968"/>
                  </a:lnTo>
                  <a:lnTo>
                    <a:pt x="0" y="759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458" t="0" r="-4458" b="0"/>
              </a:stretch>
            </a:blipFill>
          </p:spPr>
        </p:sp>
      </p:grpSp>
      <p:sp>
        <p:nvSpPr>
          <p:cNvPr name="TextBox 200" id="200"/>
          <p:cNvSpPr txBox="true"/>
          <p:nvPr/>
        </p:nvSpPr>
        <p:spPr>
          <a:xfrm rot="0">
            <a:off x="1297976" y="4152318"/>
            <a:ext cx="2185742" cy="22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5"/>
              </a:lnSpc>
            </a:pPr>
            <a:r>
              <a:rPr lang="en-US" sz="15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PROCESSING PIPELINE</a:t>
            </a:r>
          </a:p>
        </p:txBody>
      </p:sp>
      <p:grpSp>
        <p:nvGrpSpPr>
          <p:cNvPr name="Group 201" id="201"/>
          <p:cNvGrpSpPr/>
          <p:nvPr/>
        </p:nvGrpSpPr>
        <p:grpSpPr>
          <a:xfrm rot="0">
            <a:off x="53824" y="4510762"/>
            <a:ext cx="4333875" cy="527294"/>
            <a:chOff x="0" y="0"/>
            <a:chExt cx="6246240" cy="759968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6246240" cy="759968"/>
            </a:xfrm>
            <a:custGeom>
              <a:avLst/>
              <a:gdLst/>
              <a:ahLst/>
              <a:cxnLst/>
              <a:rect r="r" b="b" t="t" l="l"/>
              <a:pathLst>
                <a:path h="759968" w="6246240">
                  <a:moveTo>
                    <a:pt x="0" y="0"/>
                  </a:moveTo>
                  <a:lnTo>
                    <a:pt x="6246240" y="0"/>
                  </a:lnTo>
                  <a:lnTo>
                    <a:pt x="6246240" y="759968"/>
                  </a:lnTo>
                  <a:lnTo>
                    <a:pt x="0" y="759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01" r="0" b="-901"/>
              </a:stretch>
            </a:blipFill>
          </p:spPr>
        </p:sp>
      </p:grpSp>
      <p:sp>
        <p:nvSpPr>
          <p:cNvPr name="TextBox 203" id="203"/>
          <p:cNvSpPr txBox="true"/>
          <p:nvPr/>
        </p:nvSpPr>
        <p:spPr>
          <a:xfrm rot="0">
            <a:off x="1536825" y="4754758"/>
            <a:ext cx="1791428" cy="2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</a:pPr>
            <a:r>
              <a:rPr lang="en-US" sz="1526">
                <a:solidFill>
                  <a:srgbClr val="0A2352"/>
                </a:solidFill>
                <a:latin typeface="Roboto"/>
                <a:ea typeface="Roboto"/>
                <a:cs typeface="Roboto"/>
                <a:sym typeface="Roboto"/>
              </a:rPr>
              <a:t>Camera Feed (5 fps)</a:t>
            </a:r>
          </a:p>
        </p:txBody>
      </p:sp>
      <p:grpSp>
        <p:nvGrpSpPr>
          <p:cNvPr name="Group 204" id="204"/>
          <p:cNvGrpSpPr/>
          <p:nvPr/>
        </p:nvGrpSpPr>
        <p:grpSpPr>
          <a:xfrm rot="0">
            <a:off x="2035249" y="4859707"/>
            <a:ext cx="371024" cy="356699"/>
            <a:chOff x="0" y="0"/>
            <a:chExt cx="534742" cy="514096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34742" cy="514096"/>
            </a:xfrm>
            <a:custGeom>
              <a:avLst/>
              <a:gdLst/>
              <a:ahLst/>
              <a:cxnLst/>
              <a:rect r="r" b="b" t="t" l="l"/>
              <a:pathLst>
                <a:path h="514096" w="534742">
                  <a:moveTo>
                    <a:pt x="0" y="0"/>
                  </a:moveTo>
                  <a:lnTo>
                    <a:pt x="534742" y="0"/>
                  </a:lnTo>
                  <a:lnTo>
                    <a:pt x="534742" y="514096"/>
                  </a:lnTo>
                  <a:lnTo>
                    <a:pt x="0" y="514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01" r="0" b="-901"/>
              </a:stretch>
            </a:blip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3824" y="5038057"/>
            <a:ext cx="4333875" cy="527294"/>
            <a:chOff x="0" y="0"/>
            <a:chExt cx="6246240" cy="75996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6246240" cy="759968"/>
            </a:xfrm>
            <a:custGeom>
              <a:avLst/>
              <a:gdLst/>
              <a:ahLst/>
              <a:cxnLst/>
              <a:rect r="r" b="b" t="t" l="l"/>
              <a:pathLst>
                <a:path h="759968" w="6246240">
                  <a:moveTo>
                    <a:pt x="0" y="0"/>
                  </a:moveTo>
                  <a:lnTo>
                    <a:pt x="6246240" y="0"/>
                  </a:lnTo>
                  <a:lnTo>
                    <a:pt x="6246240" y="759968"/>
                  </a:lnTo>
                  <a:lnTo>
                    <a:pt x="0" y="759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901" r="0" b="-901"/>
              </a:stretch>
            </a:blipFill>
          </p:spPr>
        </p:sp>
      </p:grpSp>
      <p:sp>
        <p:nvSpPr>
          <p:cNvPr name="TextBox 208" id="208"/>
          <p:cNvSpPr txBox="true"/>
          <p:nvPr/>
        </p:nvSpPr>
        <p:spPr>
          <a:xfrm rot="0">
            <a:off x="613194" y="5274298"/>
            <a:ext cx="3686916" cy="2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</a:pPr>
            <a:r>
              <a:rPr lang="en-US" sz="1526">
                <a:solidFill>
                  <a:srgbClr val="0A2352"/>
                </a:solidFill>
                <a:latin typeface="Roboto"/>
                <a:ea typeface="Roboto"/>
                <a:cs typeface="Roboto"/>
                <a:sym typeface="Roboto"/>
              </a:rPr>
              <a:t> YOLOv11 (Defects, Vehicles, Pedestrians)</a:t>
            </a:r>
          </a:p>
        </p:txBody>
      </p:sp>
      <p:grpSp>
        <p:nvGrpSpPr>
          <p:cNvPr name="Group 209" id="209"/>
          <p:cNvGrpSpPr/>
          <p:nvPr/>
        </p:nvGrpSpPr>
        <p:grpSpPr>
          <a:xfrm rot="0">
            <a:off x="2035249" y="5387001"/>
            <a:ext cx="371024" cy="348945"/>
            <a:chOff x="0" y="0"/>
            <a:chExt cx="534742" cy="50292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534742" cy="502920"/>
            </a:xfrm>
            <a:custGeom>
              <a:avLst/>
              <a:gdLst/>
              <a:ahLst/>
              <a:cxnLst/>
              <a:rect r="r" b="b" t="t" l="l"/>
              <a:pathLst>
                <a:path h="502920" w="534742">
                  <a:moveTo>
                    <a:pt x="0" y="0"/>
                  </a:moveTo>
                  <a:lnTo>
                    <a:pt x="534742" y="0"/>
                  </a:lnTo>
                  <a:lnTo>
                    <a:pt x="534742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901" r="0" b="-901"/>
              </a:stretch>
            </a:blip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53824" y="5557597"/>
            <a:ext cx="4333875" cy="527294"/>
            <a:chOff x="0" y="0"/>
            <a:chExt cx="6246240" cy="759968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6246240" cy="759968"/>
            </a:xfrm>
            <a:custGeom>
              <a:avLst/>
              <a:gdLst/>
              <a:ahLst/>
              <a:cxnLst/>
              <a:rect r="r" b="b" t="t" l="l"/>
              <a:pathLst>
                <a:path h="759968" w="6246240">
                  <a:moveTo>
                    <a:pt x="0" y="0"/>
                  </a:moveTo>
                  <a:lnTo>
                    <a:pt x="6246240" y="0"/>
                  </a:lnTo>
                  <a:lnTo>
                    <a:pt x="6246240" y="759968"/>
                  </a:lnTo>
                  <a:lnTo>
                    <a:pt x="0" y="759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901" r="0" b="-901"/>
              </a:stretch>
            </a:blipFill>
          </p:spPr>
        </p:sp>
      </p:grpSp>
      <p:sp>
        <p:nvSpPr>
          <p:cNvPr name="TextBox 213" id="213"/>
          <p:cNvSpPr txBox="true"/>
          <p:nvPr/>
        </p:nvSpPr>
        <p:spPr>
          <a:xfrm rot="0">
            <a:off x="1006068" y="5863627"/>
            <a:ext cx="2810600" cy="2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</a:pPr>
            <a:r>
              <a:rPr lang="en-US" sz="1526">
                <a:solidFill>
                  <a:srgbClr val="0A2352"/>
                </a:solidFill>
                <a:latin typeface="Roboto"/>
                <a:ea typeface="Roboto"/>
                <a:cs typeface="Roboto"/>
                <a:sym typeface="Roboto"/>
              </a:rPr>
              <a:t>ByteTrack + OCR (ANPR + GPS) </a:t>
            </a:r>
          </a:p>
        </p:txBody>
      </p:sp>
      <p:grpSp>
        <p:nvGrpSpPr>
          <p:cNvPr name="Group 214" id="214"/>
          <p:cNvGrpSpPr/>
          <p:nvPr/>
        </p:nvGrpSpPr>
        <p:grpSpPr>
          <a:xfrm rot="0">
            <a:off x="2035249" y="5906541"/>
            <a:ext cx="371024" cy="527294"/>
            <a:chOff x="0" y="0"/>
            <a:chExt cx="534742" cy="759968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534742" cy="759968"/>
            </a:xfrm>
            <a:custGeom>
              <a:avLst/>
              <a:gdLst/>
              <a:ahLst/>
              <a:cxnLst/>
              <a:rect r="r" b="b" t="t" l="l"/>
              <a:pathLst>
                <a:path h="759968" w="534742">
                  <a:moveTo>
                    <a:pt x="0" y="0"/>
                  </a:moveTo>
                  <a:lnTo>
                    <a:pt x="534742" y="0"/>
                  </a:lnTo>
                  <a:lnTo>
                    <a:pt x="534742" y="759968"/>
                  </a:lnTo>
                  <a:lnTo>
                    <a:pt x="0" y="759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901" r="0" b="-901"/>
              </a:stretch>
            </a:blip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53824" y="6084891"/>
            <a:ext cx="4333875" cy="697889"/>
            <a:chOff x="0" y="0"/>
            <a:chExt cx="6246240" cy="1005840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6246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46240">
                  <a:moveTo>
                    <a:pt x="0" y="0"/>
                  </a:moveTo>
                  <a:lnTo>
                    <a:pt x="6246240" y="0"/>
                  </a:lnTo>
                  <a:lnTo>
                    <a:pt x="62462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901" r="0" b="-901"/>
              </a:stretch>
            </a:blipFill>
          </p:spPr>
        </p:sp>
      </p:grpSp>
      <p:sp>
        <p:nvSpPr>
          <p:cNvPr name="TextBox 218" id="218"/>
          <p:cNvSpPr txBox="true"/>
          <p:nvPr/>
        </p:nvSpPr>
        <p:spPr>
          <a:xfrm rot="0">
            <a:off x="0" y="6335761"/>
            <a:ext cx="4504182" cy="2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</a:pPr>
            <a:r>
              <a:rPr lang="en-US" sz="1526">
                <a:solidFill>
                  <a:srgbClr val="0A2352"/>
                </a:solidFill>
                <a:latin typeface="Roboto"/>
                <a:ea typeface="Roboto"/>
                <a:cs typeface="Roboto"/>
                <a:sym typeface="Roboto"/>
              </a:rPr>
              <a:t>SQLite (Handles dead-zones)</a:t>
            </a:r>
          </a:p>
        </p:txBody>
      </p:sp>
      <p:grpSp>
        <p:nvGrpSpPr>
          <p:cNvPr name="Group 219" id="219"/>
          <p:cNvGrpSpPr/>
          <p:nvPr/>
        </p:nvGrpSpPr>
        <p:grpSpPr>
          <a:xfrm rot="0">
            <a:off x="2035249" y="6604431"/>
            <a:ext cx="371024" cy="356699"/>
            <a:chOff x="0" y="0"/>
            <a:chExt cx="534742" cy="514096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34742" cy="514096"/>
            </a:xfrm>
            <a:custGeom>
              <a:avLst/>
              <a:gdLst/>
              <a:ahLst/>
              <a:cxnLst/>
              <a:rect r="r" b="b" t="t" l="l"/>
              <a:pathLst>
                <a:path h="514096" w="534742">
                  <a:moveTo>
                    <a:pt x="0" y="0"/>
                  </a:moveTo>
                  <a:lnTo>
                    <a:pt x="534742" y="0"/>
                  </a:lnTo>
                  <a:lnTo>
                    <a:pt x="534742" y="514096"/>
                  </a:lnTo>
                  <a:lnTo>
                    <a:pt x="0" y="514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901" r="0" b="-901"/>
              </a:stretch>
            </a:blip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53824" y="6782780"/>
            <a:ext cx="4333875" cy="697889"/>
            <a:chOff x="0" y="0"/>
            <a:chExt cx="6246240" cy="100584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6246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46240">
                  <a:moveTo>
                    <a:pt x="0" y="0"/>
                  </a:moveTo>
                  <a:lnTo>
                    <a:pt x="6246240" y="0"/>
                  </a:lnTo>
                  <a:lnTo>
                    <a:pt x="62462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901" r="0" b="-901"/>
              </a:stretch>
            </a:blipFill>
          </p:spPr>
        </p:sp>
      </p:grpSp>
      <p:sp>
        <p:nvSpPr>
          <p:cNvPr name="TextBox 223" id="223"/>
          <p:cNvSpPr txBox="true"/>
          <p:nvPr/>
        </p:nvSpPr>
        <p:spPr>
          <a:xfrm rot="0">
            <a:off x="881917" y="6877657"/>
            <a:ext cx="3065791" cy="238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1"/>
              </a:lnSpc>
            </a:pPr>
            <a:r>
              <a:rPr lang="en-US" sz="1526">
                <a:solidFill>
                  <a:srgbClr val="0A2352"/>
                </a:solidFill>
                <a:latin typeface="Roboto"/>
                <a:ea typeface="Roboto"/>
                <a:cs typeface="Roboto"/>
                <a:sym typeface="Roboto"/>
              </a:rPr>
              <a:t>FastAPI Ingest</a:t>
            </a:r>
          </a:p>
        </p:txBody>
      </p:sp>
      <p:grpSp>
        <p:nvGrpSpPr>
          <p:cNvPr name="Group 224" id="224"/>
          <p:cNvGrpSpPr/>
          <p:nvPr/>
        </p:nvGrpSpPr>
        <p:grpSpPr>
          <a:xfrm rot="0">
            <a:off x="2035249" y="7302320"/>
            <a:ext cx="371024" cy="356699"/>
            <a:chOff x="0" y="0"/>
            <a:chExt cx="534742" cy="514096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534742" cy="514096"/>
            </a:xfrm>
            <a:custGeom>
              <a:avLst/>
              <a:gdLst/>
              <a:ahLst/>
              <a:cxnLst/>
              <a:rect r="r" b="b" t="t" l="l"/>
              <a:pathLst>
                <a:path h="514096" w="534742">
                  <a:moveTo>
                    <a:pt x="0" y="0"/>
                  </a:moveTo>
                  <a:lnTo>
                    <a:pt x="534742" y="0"/>
                  </a:lnTo>
                  <a:lnTo>
                    <a:pt x="534742" y="514096"/>
                  </a:lnTo>
                  <a:lnTo>
                    <a:pt x="0" y="514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901" r="0" b="-901"/>
              </a:stretch>
            </a:blipFill>
          </p:spPr>
        </p:sp>
      </p:grpSp>
      <p:grpSp>
        <p:nvGrpSpPr>
          <p:cNvPr name="Group 226" id="226"/>
          <p:cNvGrpSpPr/>
          <p:nvPr/>
        </p:nvGrpSpPr>
        <p:grpSpPr>
          <a:xfrm rot="0">
            <a:off x="53824" y="7480670"/>
            <a:ext cx="4333875" cy="527294"/>
            <a:chOff x="0" y="0"/>
            <a:chExt cx="6246240" cy="759968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6246240" cy="759968"/>
            </a:xfrm>
            <a:custGeom>
              <a:avLst/>
              <a:gdLst/>
              <a:ahLst/>
              <a:cxnLst/>
              <a:rect r="r" b="b" t="t" l="l"/>
              <a:pathLst>
                <a:path h="759968" w="6246240">
                  <a:moveTo>
                    <a:pt x="0" y="0"/>
                  </a:moveTo>
                  <a:lnTo>
                    <a:pt x="6246240" y="0"/>
                  </a:lnTo>
                  <a:lnTo>
                    <a:pt x="6246240" y="759968"/>
                  </a:lnTo>
                  <a:lnTo>
                    <a:pt x="0" y="759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901" r="0" b="-901"/>
              </a:stretch>
            </a:blipFill>
          </p:spPr>
        </p:sp>
      </p:grpSp>
      <p:sp>
        <p:nvSpPr>
          <p:cNvPr name="TextBox 228" id="228"/>
          <p:cNvSpPr txBox="true"/>
          <p:nvPr/>
        </p:nvSpPr>
        <p:spPr>
          <a:xfrm rot="0">
            <a:off x="1823303" y="7647898"/>
            <a:ext cx="1310044" cy="2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</a:pPr>
            <a:r>
              <a:rPr lang="en-US" sz="1526">
                <a:solidFill>
                  <a:srgbClr val="0A2352"/>
                </a:solidFill>
                <a:latin typeface="Roboto"/>
                <a:ea typeface="Roboto"/>
                <a:cs typeface="Roboto"/>
                <a:sym typeface="Roboto"/>
              </a:rPr>
              <a:t>GIS Dashboard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FEASIBILITY &amp;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Rolling Census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120" y="1824228"/>
            <a:ext cx="16184880" cy="576072"/>
            <a:chOff x="0" y="0"/>
            <a:chExt cx="21579840" cy="7680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5798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Feasible with today's edge AI stack — pilot first, validate in-field, then scale fleet-wide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595" y="2665095"/>
            <a:ext cx="5093970" cy="6259830"/>
            <a:chOff x="0" y="0"/>
            <a:chExt cx="6791960" cy="8346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1960" cy="8346440"/>
            </a:xfrm>
            <a:custGeom>
              <a:avLst/>
              <a:gdLst/>
              <a:ahLst/>
              <a:cxnLst/>
              <a:rect r="r" b="b" t="t" l="l"/>
              <a:pathLst>
                <a:path h="8346440" w="6791960">
                  <a:moveTo>
                    <a:pt x="0" y="1132078"/>
                  </a:moveTo>
                  <a:cubicBezTo>
                    <a:pt x="0" y="506857"/>
                    <a:pt x="506857" y="0"/>
                    <a:pt x="1132078" y="0"/>
                  </a:cubicBezTo>
                  <a:lnTo>
                    <a:pt x="5659882" y="0"/>
                  </a:lnTo>
                  <a:cubicBezTo>
                    <a:pt x="6285103" y="0"/>
                    <a:pt x="6791960" y="506857"/>
                    <a:pt x="6791960" y="1132078"/>
                  </a:cubicBezTo>
                  <a:lnTo>
                    <a:pt x="6791960" y="7214362"/>
                  </a:lnTo>
                  <a:cubicBezTo>
                    <a:pt x="6791960" y="7839583"/>
                    <a:pt x="6285103" y="8346440"/>
                    <a:pt x="5659882" y="8346440"/>
                  </a:cubicBezTo>
                  <a:lnTo>
                    <a:pt x="1132078" y="8346440"/>
                  </a:lnTo>
                  <a:cubicBezTo>
                    <a:pt x="506857" y="8346440"/>
                    <a:pt x="0" y="7839583"/>
                    <a:pt x="0" y="7214362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61872" y="2907792"/>
            <a:ext cx="1865376" cy="384048"/>
            <a:chOff x="0" y="0"/>
            <a:chExt cx="2487168" cy="512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87168" cy="512064"/>
            </a:xfrm>
            <a:custGeom>
              <a:avLst/>
              <a:gdLst/>
              <a:ahLst/>
              <a:cxnLst/>
              <a:rect r="r" b="b" t="t" l="l"/>
              <a:pathLst>
                <a:path h="512064" w="248716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2401824" y="0"/>
                  </a:lnTo>
                  <a:cubicBezTo>
                    <a:pt x="2448941" y="0"/>
                    <a:pt x="2487168" y="38227"/>
                    <a:pt x="2487168" y="85344"/>
                  </a:cubicBezTo>
                  <a:lnTo>
                    <a:pt x="2487168" y="426720"/>
                  </a:lnTo>
                  <a:cubicBezTo>
                    <a:pt x="2487168" y="473837"/>
                    <a:pt x="2448941" y="512064"/>
                    <a:pt x="2401824" y="512064"/>
                  </a:cubicBezTo>
                  <a:lnTo>
                    <a:pt x="85344" y="512064"/>
                  </a:lnTo>
                  <a:cubicBezTo>
                    <a:pt x="3822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0452" y="2921508"/>
            <a:ext cx="1728216" cy="329184"/>
            <a:chOff x="0" y="0"/>
            <a:chExt cx="2304288" cy="4389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04288" cy="438912"/>
            </a:xfrm>
            <a:custGeom>
              <a:avLst/>
              <a:gdLst/>
              <a:ahLst/>
              <a:cxnLst/>
              <a:rect r="r" b="b" t="t" l="l"/>
              <a:pathLst>
                <a:path h="438912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304288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BUILDABLE NOW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75588" y="3497580"/>
            <a:ext cx="4046220" cy="342900"/>
            <a:chOff x="0" y="0"/>
            <a:chExt cx="5394960" cy="457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94960" cy="457200"/>
            </a:xfrm>
            <a:custGeom>
              <a:avLst/>
              <a:gdLst/>
              <a:ahLst/>
              <a:cxnLst/>
              <a:rect r="r" b="b" t="t" l="l"/>
              <a:pathLst>
                <a:path h="45720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3949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Repurpose the cameras already on buses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80160" y="4037076"/>
            <a:ext cx="4215384" cy="413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978">
                <a:solidFill>
                  <a:srgbClr val="B2BEC6"/>
                </a:solidFill>
                <a:latin typeface="Aptos"/>
                <a:ea typeface="Aptos"/>
                <a:cs typeface="Aptos"/>
                <a:sym typeface="Aptos"/>
              </a:rPr>
              <a:t>•  Compact CV models can run on a bus gateway; no full video upload is required.</a:t>
            </a:r>
          </a:p>
          <a:p>
            <a:pPr algn="l">
              <a:lnSpc>
                <a:spcPts val="2374"/>
              </a:lnSpc>
            </a:pPr>
            <a:r>
              <a:rPr lang="en-US" sz="1978">
                <a:solidFill>
                  <a:srgbClr val="B2BEC6"/>
                </a:solidFill>
                <a:latin typeface="Aptos"/>
                <a:ea typeface="Aptos"/>
                <a:cs typeface="Aptos"/>
                <a:sym typeface="Aptos"/>
              </a:rPr>
              <a:t>•  Public road-damage datasets provide a starting point; local footage closes the domain gap.</a:t>
            </a:r>
          </a:p>
          <a:p>
            <a:pPr algn="l">
              <a:lnSpc>
                <a:spcPts val="2374"/>
              </a:lnSpc>
            </a:pPr>
            <a:r>
              <a:rPr lang="en-US" sz="1978">
                <a:solidFill>
                  <a:srgbClr val="B2BEC6"/>
                </a:solidFill>
                <a:latin typeface="Aptos"/>
                <a:ea typeface="Aptos"/>
                <a:cs typeface="Aptos"/>
                <a:sym typeface="Aptos"/>
              </a:rPr>
              <a:t>•  Open-source GIS stack supports spatial queries, vector maps and route context.</a:t>
            </a:r>
          </a:p>
          <a:p>
            <a:pPr algn="l">
              <a:lnSpc>
                <a:spcPts val="2374"/>
              </a:lnSpc>
            </a:pPr>
            <a:r>
              <a:rPr lang="en-US" sz="1978">
                <a:solidFill>
                  <a:srgbClr val="B2BEC6"/>
                </a:solidFill>
                <a:latin typeface="Aptos"/>
                <a:ea typeface="Aptos"/>
                <a:cs typeface="Aptos"/>
                <a:sym typeface="Aptos"/>
              </a:rPr>
              <a:t>•  Upload event metadata first; rich evidence only on high-value triggers.</a:t>
            </a:r>
          </a:p>
          <a:p>
            <a:pPr algn="l">
              <a:lnSpc>
                <a:spcPts val="2374"/>
              </a:lnSpc>
            </a:pPr>
            <a:r>
              <a:rPr lang="en-US" sz="1978">
                <a:solidFill>
                  <a:srgbClr val="B2BEC6"/>
                </a:solidFill>
                <a:latin typeface="Aptos"/>
                <a:ea typeface="Aptos"/>
                <a:cs typeface="Aptos"/>
                <a:sym typeface="Aptos"/>
              </a:rPr>
              <a:t>•  Store-and-forward survives tunnels and dead zones; sync resumes automatically.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52347" y="8192643"/>
            <a:ext cx="4271010" cy="633603"/>
            <a:chOff x="0" y="0"/>
            <a:chExt cx="5694680" cy="8448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94680" cy="844804"/>
            </a:xfrm>
            <a:custGeom>
              <a:avLst/>
              <a:gdLst/>
              <a:ahLst/>
              <a:cxnLst/>
              <a:rect r="r" b="b" t="t" l="l"/>
              <a:pathLst>
                <a:path h="844804" w="5694680">
                  <a:moveTo>
                    <a:pt x="0" y="140738"/>
                  </a:moveTo>
                  <a:cubicBezTo>
                    <a:pt x="0" y="62986"/>
                    <a:pt x="42799" y="0"/>
                    <a:pt x="95631" y="0"/>
                  </a:cubicBezTo>
                  <a:lnTo>
                    <a:pt x="5599049" y="0"/>
                  </a:lnTo>
                  <a:cubicBezTo>
                    <a:pt x="5651881" y="0"/>
                    <a:pt x="5694680" y="62986"/>
                    <a:pt x="5694680" y="140738"/>
                  </a:cubicBezTo>
                  <a:lnTo>
                    <a:pt x="5694680" y="704066"/>
                  </a:lnTo>
                  <a:cubicBezTo>
                    <a:pt x="5694680" y="781817"/>
                    <a:pt x="5651881" y="844804"/>
                    <a:pt x="5599049" y="844804"/>
                  </a:cubicBezTo>
                  <a:lnTo>
                    <a:pt x="95631" y="844804"/>
                  </a:lnTo>
                  <a:cubicBezTo>
                    <a:pt x="42799" y="844804"/>
                    <a:pt x="0" y="781818"/>
                    <a:pt x="0" y="704066"/>
                  </a:cubicBezTo>
                  <a:close/>
                </a:path>
              </a:pathLst>
            </a:custGeom>
            <a:solidFill>
              <a:srgbClr val="1E372C"/>
            </a:solidFill>
            <a:ln w="19050" cap="sq">
              <a:solidFill>
                <a:srgbClr val="15A05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30452" y="8215884"/>
            <a:ext cx="4114800" cy="610362"/>
            <a:chOff x="0" y="0"/>
            <a:chExt cx="5486400" cy="8138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0" cy="813816"/>
            </a:xfrm>
            <a:custGeom>
              <a:avLst/>
              <a:gdLst/>
              <a:ahLst/>
              <a:cxnLst/>
              <a:rect r="r" b="b" t="t" l="l"/>
              <a:pathLst>
                <a:path h="8138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13816"/>
                  </a:lnTo>
                  <a:lnTo>
                    <a:pt x="0" y="8138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269" r="0" b="-5944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486400" cy="813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15A0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MVP = 1 bus • 4 camera views • edge box • command console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279261" y="2665095"/>
            <a:ext cx="5505450" cy="6259830"/>
            <a:chOff x="0" y="0"/>
            <a:chExt cx="7340600" cy="8346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40600" cy="8346440"/>
            </a:xfrm>
            <a:custGeom>
              <a:avLst/>
              <a:gdLst/>
              <a:ahLst/>
              <a:cxnLst/>
              <a:rect r="r" b="b" t="t" l="l"/>
              <a:pathLst>
                <a:path h="8346440" w="7340600">
                  <a:moveTo>
                    <a:pt x="0" y="1223518"/>
                  </a:moveTo>
                  <a:cubicBezTo>
                    <a:pt x="0" y="547751"/>
                    <a:pt x="547751" y="0"/>
                    <a:pt x="1223518" y="0"/>
                  </a:cubicBezTo>
                  <a:lnTo>
                    <a:pt x="6117082" y="0"/>
                  </a:lnTo>
                  <a:cubicBezTo>
                    <a:pt x="6792849" y="0"/>
                    <a:pt x="7340600" y="547751"/>
                    <a:pt x="7340600" y="1223518"/>
                  </a:cubicBezTo>
                  <a:lnTo>
                    <a:pt x="7340600" y="7122922"/>
                  </a:lnTo>
                  <a:cubicBezTo>
                    <a:pt x="7340600" y="7798562"/>
                    <a:pt x="6792849" y="8346440"/>
                    <a:pt x="6117082" y="8346440"/>
                  </a:cubicBezTo>
                  <a:lnTo>
                    <a:pt x="1223518" y="8346440"/>
                  </a:lnTo>
                  <a:cubicBezTo>
                    <a:pt x="547751" y="8346440"/>
                    <a:pt x="0" y="7798689"/>
                    <a:pt x="0" y="7122922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583680" y="2907792"/>
            <a:ext cx="2606040" cy="384048"/>
            <a:chOff x="0" y="0"/>
            <a:chExt cx="3474720" cy="512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3389376" y="0"/>
                  </a:lnTo>
                  <a:cubicBezTo>
                    <a:pt x="3436493" y="0"/>
                    <a:pt x="3474720" y="38227"/>
                    <a:pt x="3474720" y="85344"/>
                  </a:cubicBezTo>
                  <a:lnTo>
                    <a:pt x="3474720" y="426720"/>
                  </a:lnTo>
                  <a:cubicBezTo>
                    <a:pt x="3474720" y="473837"/>
                    <a:pt x="3436493" y="512064"/>
                    <a:pt x="3389376" y="512064"/>
                  </a:cubicBezTo>
                  <a:lnTo>
                    <a:pt x="85344" y="512064"/>
                  </a:lnTo>
                  <a:cubicBezTo>
                    <a:pt x="3822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52260" y="2921508"/>
            <a:ext cx="2468880" cy="329184"/>
            <a:chOff x="0" y="0"/>
            <a:chExt cx="3291840" cy="4389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91838" cy="438912"/>
            </a:xfrm>
            <a:custGeom>
              <a:avLst/>
              <a:gdLst/>
              <a:ahLst/>
              <a:cxnLst/>
              <a:rect r="r" b="b" t="t" l="l"/>
              <a:pathLst>
                <a:path h="438912" w="3291838">
                  <a:moveTo>
                    <a:pt x="0" y="0"/>
                  </a:moveTo>
                  <a:lnTo>
                    <a:pt x="3291838" y="0"/>
                  </a:lnTo>
                  <a:lnTo>
                    <a:pt x="329183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29184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RISKS → MITIGATION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11112" y="3511296"/>
            <a:ext cx="384048" cy="384048"/>
            <a:chOff x="0" y="0"/>
            <a:chExt cx="512064" cy="512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11112" y="3511296"/>
            <a:ext cx="384048" cy="384048"/>
            <a:chOff x="0" y="0"/>
            <a:chExt cx="512064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159752" y="3483864"/>
            <a:ext cx="1892808" cy="298099"/>
            <a:chOff x="0" y="0"/>
            <a:chExt cx="2523744" cy="39746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23744" cy="397465"/>
            </a:xfrm>
            <a:custGeom>
              <a:avLst/>
              <a:gdLst/>
              <a:ahLst/>
              <a:cxnLst/>
              <a:rect r="r" b="b" t="t" l="l"/>
              <a:pathLst>
                <a:path h="397465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397465"/>
                  </a:lnTo>
                  <a:lnTo>
                    <a:pt x="0" y="397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11" r="0" b="-6513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523744" cy="39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6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Night / rain / blur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93708" y="3483864"/>
            <a:ext cx="2125980" cy="773423"/>
            <a:chOff x="0" y="0"/>
            <a:chExt cx="2834640" cy="1031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834640" cy="1031231"/>
            </a:xfrm>
            <a:custGeom>
              <a:avLst/>
              <a:gdLst/>
              <a:ahLst/>
              <a:cxnLst/>
              <a:rect r="r" b="b" t="t" l="l"/>
              <a:pathLst>
                <a:path h="1031231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031231"/>
                  </a:lnTo>
                  <a:lnTo>
                    <a:pt x="0" y="1031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31" r="0" b="831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834640" cy="10407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3"/>
                </a:lnSpc>
              </a:pPr>
              <a:r>
                <a:rPr lang="en-US" sz="159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Augment training data; quality gate; temporal confirmation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611112" y="4430268"/>
            <a:ext cx="384048" cy="384048"/>
            <a:chOff x="0" y="0"/>
            <a:chExt cx="512064" cy="5120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EA525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611112" y="4430268"/>
            <a:ext cx="384048" cy="384048"/>
            <a:chOff x="0" y="0"/>
            <a:chExt cx="512064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159752" y="4402836"/>
            <a:ext cx="1892808" cy="298099"/>
            <a:chOff x="0" y="0"/>
            <a:chExt cx="2523744" cy="39746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23744" cy="397465"/>
            </a:xfrm>
            <a:custGeom>
              <a:avLst/>
              <a:gdLst/>
              <a:ahLst/>
              <a:cxnLst/>
              <a:rect r="r" b="b" t="t" l="l"/>
              <a:pathLst>
                <a:path h="397465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397465"/>
                  </a:lnTo>
                  <a:lnTo>
                    <a:pt x="0" y="397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11" r="0" b="-6513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2523744" cy="39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6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False road defects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093708" y="4402836"/>
            <a:ext cx="2125980" cy="773423"/>
            <a:chOff x="0" y="0"/>
            <a:chExt cx="2834640" cy="103123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34640" cy="1031231"/>
            </a:xfrm>
            <a:custGeom>
              <a:avLst/>
              <a:gdLst/>
              <a:ahLst/>
              <a:cxnLst/>
              <a:rect r="r" b="b" t="t" l="l"/>
              <a:pathLst>
                <a:path h="1031231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031231"/>
                  </a:lnTo>
                  <a:lnTo>
                    <a:pt x="0" y="1031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31" r="0" b="831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834640" cy="10407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3"/>
                </a:lnSpc>
              </a:pPr>
              <a:r>
                <a:rPr lang="en-US" sz="159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Temporal confirmation + fleet-level consensus for high-priority tickets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611112" y="5349240"/>
            <a:ext cx="384048" cy="384048"/>
            <a:chOff x="0" y="0"/>
            <a:chExt cx="512064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6C53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611112" y="5349240"/>
            <a:ext cx="384048" cy="384048"/>
            <a:chOff x="0" y="0"/>
            <a:chExt cx="512064" cy="5120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159752" y="5321808"/>
            <a:ext cx="1892808" cy="298099"/>
            <a:chOff x="0" y="0"/>
            <a:chExt cx="2523744" cy="39746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23744" cy="397465"/>
            </a:xfrm>
            <a:custGeom>
              <a:avLst/>
              <a:gdLst/>
              <a:ahLst/>
              <a:cxnLst/>
              <a:rect r="r" b="b" t="t" l="l"/>
              <a:pathLst>
                <a:path h="397465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397465"/>
                  </a:lnTo>
                  <a:lnTo>
                    <a:pt x="0" y="397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11" r="0" b="-6513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2523744" cy="39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6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OCR uncertainty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093708" y="5321808"/>
            <a:ext cx="2125980" cy="712571"/>
            <a:chOff x="0" y="0"/>
            <a:chExt cx="2834640" cy="9500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834640" cy="950095"/>
            </a:xfrm>
            <a:custGeom>
              <a:avLst/>
              <a:gdLst/>
              <a:ahLst/>
              <a:cxnLst/>
              <a:rect r="r" b="b" t="t" l="l"/>
              <a:pathLst>
                <a:path h="950095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950095"/>
                  </a:lnTo>
                  <a:lnTo>
                    <a:pt x="0" y="950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9" r="0" b="48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9525"/>
              <a:ext cx="2834640" cy="94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Multi-frame OCR voting + state-code constraints + confidence score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611112" y="6268212"/>
            <a:ext cx="384048" cy="384048"/>
            <a:chOff x="0" y="0"/>
            <a:chExt cx="512064" cy="5120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91D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611112" y="6268212"/>
            <a:ext cx="384048" cy="384048"/>
            <a:chOff x="0" y="0"/>
            <a:chExt cx="512064" cy="5120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159752" y="6240780"/>
            <a:ext cx="1892808" cy="298099"/>
            <a:chOff x="0" y="0"/>
            <a:chExt cx="2523744" cy="39746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23744" cy="397465"/>
            </a:xfrm>
            <a:custGeom>
              <a:avLst/>
              <a:gdLst/>
              <a:ahLst/>
              <a:cxnLst/>
              <a:rect r="r" b="b" t="t" l="l"/>
              <a:pathLst>
                <a:path h="397465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397465"/>
                  </a:lnTo>
                  <a:lnTo>
                    <a:pt x="0" y="397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11" r="0" b="-6513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2523744" cy="39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6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Network loss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093708" y="6240780"/>
            <a:ext cx="2125980" cy="712571"/>
            <a:chOff x="0" y="0"/>
            <a:chExt cx="2834640" cy="95009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834640" cy="950095"/>
            </a:xfrm>
            <a:custGeom>
              <a:avLst/>
              <a:gdLst/>
              <a:ahLst/>
              <a:cxnLst/>
              <a:rect r="r" b="b" t="t" l="l"/>
              <a:pathLst>
                <a:path h="950095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950095"/>
                  </a:lnTo>
                  <a:lnTo>
                    <a:pt x="0" y="950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9" r="0" b="48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9525"/>
              <a:ext cx="2834640" cy="94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Local encrypted buffer; metadata first, evidence second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611112" y="7187184"/>
            <a:ext cx="384048" cy="384048"/>
            <a:chOff x="0" y="0"/>
            <a:chExt cx="512064" cy="5120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7B9A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611112" y="7187184"/>
            <a:ext cx="384048" cy="384048"/>
            <a:chOff x="0" y="0"/>
            <a:chExt cx="512064" cy="51206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159752" y="7159752"/>
            <a:ext cx="1892808" cy="298099"/>
            <a:chOff x="0" y="0"/>
            <a:chExt cx="2523744" cy="39746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23744" cy="397465"/>
            </a:xfrm>
            <a:custGeom>
              <a:avLst/>
              <a:gdLst/>
              <a:ahLst/>
              <a:cxnLst/>
              <a:rect r="r" b="b" t="t" l="l"/>
              <a:pathLst>
                <a:path h="397465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397465"/>
                  </a:lnTo>
                  <a:lnTo>
                    <a:pt x="0" y="397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11" r="0" b="-6513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2523744" cy="39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6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Privacy / misuse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093708" y="7159752"/>
            <a:ext cx="2125980" cy="1011548"/>
            <a:chOff x="0" y="0"/>
            <a:chExt cx="2834640" cy="134873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834640" cy="1348731"/>
            </a:xfrm>
            <a:custGeom>
              <a:avLst/>
              <a:gdLst/>
              <a:ahLst/>
              <a:cxnLst/>
              <a:rect r="r" b="b" t="t" l="l"/>
              <a:pathLst>
                <a:path h="1348731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348731"/>
                  </a:lnTo>
                  <a:lnTo>
                    <a:pt x="0" y="1348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9" r="0" b="2989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2834640" cy="1358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3"/>
                </a:lnSpc>
              </a:pPr>
              <a:r>
                <a:rPr lang="en-US" sz="159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Role-based access; blur-by-default; incident-only plate evidence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019407" y="2665095"/>
            <a:ext cx="5203698" cy="6259830"/>
            <a:chOff x="0" y="0"/>
            <a:chExt cx="6938264" cy="83464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938264" cy="8346440"/>
            </a:xfrm>
            <a:custGeom>
              <a:avLst/>
              <a:gdLst/>
              <a:ahLst/>
              <a:cxnLst/>
              <a:rect r="r" b="b" t="t" l="l"/>
              <a:pathLst>
                <a:path h="8346440" w="6938264">
                  <a:moveTo>
                    <a:pt x="0" y="1156462"/>
                  </a:moveTo>
                  <a:cubicBezTo>
                    <a:pt x="0" y="517779"/>
                    <a:pt x="517779" y="0"/>
                    <a:pt x="1156462" y="0"/>
                  </a:cubicBezTo>
                  <a:lnTo>
                    <a:pt x="5781802" y="0"/>
                  </a:lnTo>
                  <a:cubicBezTo>
                    <a:pt x="6420485" y="0"/>
                    <a:pt x="6938264" y="517779"/>
                    <a:pt x="6938264" y="1156462"/>
                  </a:cubicBezTo>
                  <a:lnTo>
                    <a:pt x="6938264" y="7189978"/>
                  </a:lnTo>
                  <a:cubicBezTo>
                    <a:pt x="6938264" y="7828661"/>
                    <a:pt x="6420485" y="8346440"/>
                    <a:pt x="5781802" y="8346440"/>
                  </a:cubicBezTo>
                  <a:lnTo>
                    <a:pt x="1156462" y="8346440"/>
                  </a:lnTo>
                  <a:cubicBezTo>
                    <a:pt x="517779" y="8346440"/>
                    <a:pt x="0" y="7828661"/>
                    <a:pt x="0" y="7189978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2330684" y="2907792"/>
            <a:ext cx="1837944" cy="384048"/>
            <a:chOff x="0" y="0"/>
            <a:chExt cx="2450592" cy="5120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50592" cy="512064"/>
            </a:xfrm>
            <a:custGeom>
              <a:avLst/>
              <a:gdLst/>
              <a:ahLst/>
              <a:cxnLst/>
              <a:rect r="r" b="b" t="t" l="l"/>
              <a:pathLst>
                <a:path h="512064" w="2450592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2365248" y="0"/>
                  </a:lnTo>
                  <a:cubicBezTo>
                    <a:pt x="2412365" y="0"/>
                    <a:pt x="2450592" y="38227"/>
                    <a:pt x="2450592" y="85344"/>
                  </a:cubicBezTo>
                  <a:lnTo>
                    <a:pt x="2450592" y="426720"/>
                  </a:lnTo>
                  <a:cubicBezTo>
                    <a:pt x="2450592" y="473837"/>
                    <a:pt x="2412365" y="512064"/>
                    <a:pt x="2365248" y="512064"/>
                  </a:cubicBezTo>
                  <a:lnTo>
                    <a:pt x="85344" y="512064"/>
                  </a:lnTo>
                  <a:cubicBezTo>
                    <a:pt x="3822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37B9AA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399264" y="2921508"/>
            <a:ext cx="1700784" cy="329184"/>
            <a:chOff x="0" y="0"/>
            <a:chExt cx="2267712" cy="43891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67712" cy="438912"/>
            </a:xfrm>
            <a:custGeom>
              <a:avLst/>
              <a:gdLst/>
              <a:ahLst/>
              <a:cxnLst/>
              <a:rect r="r" b="b" t="t" l="l"/>
              <a:pathLst>
                <a:path h="438912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267712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PILOT ROADMAP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371832" y="3497580"/>
            <a:ext cx="548640" cy="548640"/>
            <a:chOff x="0" y="0"/>
            <a:chExt cx="73152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371832" y="3497580"/>
            <a:ext cx="548640" cy="548640"/>
            <a:chOff x="0" y="0"/>
            <a:chExt cx="731520" cy="7315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sz="1125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P1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098780" y="3470148"/>
            <a:ext cx="2084832" cy="308734"/>
            <a:chOff x="0" y="0"/>
            <a:chExt cx="2779776" cy="41164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779776" cy="411646"/>
            </a:xfrm>
            <a:custGeom>
              <a:avLst/>
              <a:gdLst/>
              <a:ahLst/>
              <a:cxnLst/>
              <a:rect r="r" b="b" t="t" l="l"/>
              <a:pathLst>
                <a:path h="411646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411646"/>
                  </a:lnTo>
                  <a:lnTo>
                    <a:pt x="0" y="4116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5" r="0" b="-71563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2779776" cy="4116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Calibrate + label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098780" y="3771900"/>
            <a:ext cx="3566160" cy="534743"/>
            <a:chOff x="0" y="0"/>
            <a:chExt cx="4754880" cy="71299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754880" cy="712990"/>
            </a:xfrm>
            <a:custGeom>
              <a:avLst/>
              <a:gdLst/>
              <a:ahLst/>
              <a:cxnLst/>
              <a:rect r="r" b="b" t="t" l="l"/>
              <a:pathLst>
                <a:path h="71299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12990"/>
                  </a:lnTo>
                  <a:lnTo>
                    <a:pt x="0" y="712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39" r="0" b="-73548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4754880" cy="71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5"/>
                </a:lnSpc>
              </a:pPr>
              <a:r>
                <a:rPr lang="en-US" sz="157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camera geometry; local road/hazard taxonomy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371832" y="4690872"/>
            <a:ext cx="548640" cy="548640"/>
            <a:chOff x="0" y="0"/>
            <a:chExt cx="731520" cy="73152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371832" y="4690872"/>
            <a:ext cx="548640" cy="548640"/>
            <a:chOff x="0" y="0"/>
            <a:chExt cx="73152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sz="1125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P2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098780" y="4663440"/>
            <a:ext cx="2084832" cy="308734"/>
            <a:chOff x="0" y="0"/>
            <a:chExt cx="2779776" cy="41164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779776" cy="411646"/>
            </a:xfrm>
            <a:custGeom>
              <a:avLst/>
              <a:gdLst/>
              <a:ahLst/>
              <a:cxnLst/>
              <a:rect r="r" b="b" t="t" l="l"/>
              <a:pathLst>
                <a:path h="411646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411646"/>
                  </a:lnTo>
                  <a:lnTo>
                    <a:pt x="0" y="4116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5" r="0" b="-7156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2779776" cy="4116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Edge MVP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098780" y="4965192"/>
            <a:ext cx="3566160" cy="492941"/>
            <a:chOff x="0" y="0"/>
            <a:chExt cx="4754880" cy="65725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754880" cy="657254"/>
            </a:xfrm>
            <a:custGeom>
              <a:avLst/>
              <a:gdLst/>
              <a:ahLst/>
              <a:cxnLst/>
              <a:rect r="r" b="b" t="t" l="l"/>
              <a:pathLst>
                <a:path h="65725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57254"/>
                  </a:lnTo>
                  <a:lnTo>
                    <a:pt x="0" y="6572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61" r="0" b="-8826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4754880" cy="657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detect → track → score → GPS-tag compact event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371832" y="5884164"/>
            <a:ext cx="548640" cy="548640"/>
            <a:chOff x="0" y="0"/>
            <a:chExt cx="731520" cy="7315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4C91DC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2371832" y="5884164"/>
            <a:ext cx="548640" cy="548640"/>
            <a:chOff x="0" y="0"/>
            <a:chExt cx="731520" cy="73152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sz="1125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P3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3098780" y="5856732"/>
            <a:ext cx="2084832" cy="308734"/>
            <a:chOff x="0" y="0"/>
            <a:chExt cx="2779776" cy="41164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779776" cy="411646"/>
            </a:xfrm>
            <a:custGeom>
              <a:avLst/>
              <a:gdLst/>
              <a:ahLst/>
              <a:cxnLst/>
              <a:rect r="r" b="b" t="t" l="l"/>
              <a:pathLst>
                <a:path h="411646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411646"/>
                  </a:lnTo>
                  <a:lnTo>
                    <a:pt x="0" y="4116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5" r="0" b="-71563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0"/>
              <a:ext cx="2779776" cy="4116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Fleet fusion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3098780" y="6158484"/>
            <a:ext cx="3566160" cy="492941"/>
            <a:chOff x="0" y="0"/>
            <a:chExt cx="4754880" cy="65725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754880" cy="657254"/>
            </a:xfrm>
            <a:custGeom>
              <a:avLst/>
              <a:gdLst/>
              <a:ahLst/>
              <a:cxnLst/>
              <a:rect r="r" b="b" t="t" l="l"/>
              <a:pathLst>
                <a:path h="65725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57254"/>
                  </a:lnTo>
                  <a:lnTo>
                    <a:pt x="0" y="6572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61" r="0" b="-88265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0"/>
              <a:ext cx="4754880" cy="657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dedup + map priors + route aggregation + GIS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2371832" y="7077456"/>
            <a:ext cx="548640" cy="548640"/>
            <a:chOff x="0" y="0"/>
            <a:chExt cx="731520" cy="73152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7B9AA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2371832" y="7077456"/>
            <a:ext cx="548640" cy="548640"/>
            <a:chOff x="0" y="0"/>
            <a:chExt cx="731520" cy="73152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sz="1125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P4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3098780" y="7050024"/>
            <a:ext cx="2084832" cy="308734"/>
            <a:chOff x="0" y="0"/>
            <a:chExt cx="2779776" cy="41164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779776" cy="411646"/>
            </a:xfrm>
            <a:custGeom>
              <a:avLst/>
              <a:gdLst/>
              <a:ahLst/>
              <a:cxnLst/>
              <a:rect r="r" b="b" t="t" l="l"/>
              <a:pathLst>
                <a:path h="411646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411646"/>
                  </a:lnTo>
                  <a:lnTo>
                    <a:pt x="0" y="4116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5" r="0" b="-7156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2779776" cy="4116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Field validation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098780" y="7351776"/>
            <a:ext cx="3566160" cy="534743"/>
            <a:chOff x="0" y="0"/>
            <a:chExt cx="4754880" cy="71299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754880" cy="712990"/>
            </a:xfrm>
            <a:custGeom>
              <a:avLst/>
              <a:gdLst/>
              <a:ahLst/>
              <a:cxnLst/>
              <a:rect r="r" b="b" t="t" l="l"/>
              <a:pathLst>
                <a:path h="71299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12990"/>
                  </a:lnTo>
                  <a:lnTo>
                    <a:pt x="0" y="712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39" r="0" b="-73548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0"/>
              <a:ext cx="4754880" cy="71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5"/>
                </a:lnSpc>
              </a:pPr>
              <a:r>
                <a:rPr lang="en-US" sz="157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precision / recall • false alerts • bandwidth • latency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2371832" y="8325612"/>
            <a:ext cx="4334256" cy="274320"/>
            <a:chOff x="0" y="0"/>
            <a:chExt cx="5779008" cy="36576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779008" cy="365760"/>
            </a:xfrm>
            <a:custGeom>
              <a:avLst/>
              <a:gdLst/>
              <a:ahLst/>
              <a:cxnLst/>
              <a:rect r="r" b="b" t="t" l="l"/>
              <a:pathLst>
                <a:path h="365760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863" r="0" b="-257863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5779008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4"/>
                </a:lnSpc>
              </a:pPr>
              <a:r>
                <a:rPr lang="en-US" sz="1303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Pilot success is measured, not assumed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2321159" y="8631555"/>
            <a:ext cx="4449318" cy="430530"/>
            <a:chOff x="0" y="0"/>
            <a:chExt cx="5932424" cy="57404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932424" cy="574040"/>
            </a:xfrm>
            <a:custGeom>
              <a:avLst/>
              <a:gdLst/>
              <a:ahLst/>
              <a:cxnLst/>
              <a:rect r="r" b="b" t="t" l="l"/>
              <a:pathLst>
                <a:path h="574040" w="5932424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5836793" y="0"/>
                  </a:lnTo>
                  <a:cubicBezTo>
                    <a:pt x="5889625" y="0"/>
                    <a:pt x="5932424" y="42799"/>
                    <a:pt x="5932424" y="95631"/>
                  </a:cubicBezTo>
                  <a:lnTo>
                    <a:pt x="5932424" y="478409"/>
                  </a:lnTo>
                  <a:cubicBezTo>
                    <a:pt x="5932424" y="531241"/>
                    <a:pt x="5889625" y="574040"/>
                    <a:pt x="5836793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F2D32"/>
            </a:solidFill>
            <a:ln w="19050" cap="sq">
              <a:solidFill>
                <a:srgbClr val="37B9AA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399264" y="8654796"/>
            <a:ext cx="4293108" cy="429497"/>
            <a:chOff x="0" y="0"/>
            <a:chExt cx="5724144" cy="572663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724144" cy="572663"/>
            </a:xfrm>
            <a:custGeom>
              <a:avLst/>
              <a:gdLst/>
              <a:ahLst/>
              <a:cxnLst/>
              <a:rect r="r" b="b" t="t" l="l"/>
              <a:pathLst>
                <a:path h="572663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572663"/>
                  </a:lnTo>
                  <a:lnTo>
                    <a:pt x="0" y="5726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847" r="0" b="-134684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5724144" cy="572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71"/>
                </a:lnSpc>
              </a:pPr>
              <a:r>
                <a:rPr lang="en-US" sz="130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KPIs: alert latency • false-alert rate • bandwidth / vehicle-km • route-delay error • coverage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427185"/>
            <a:ext cx="16131540" cy="1789411"/>
            <a:chOff x="0" y="0"/>
            <a:chExt cx="23241000" cy="2578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41000" cy="2578036"/>
            </a:xfrm>
            <a:custGeom>
              <a:avLst/>
              <a:gdLst/>
              <a:ahLst/>
              <a:cxnLst/>
              <a:rect r="r" b="b" t="t" l="l"/>
              <a:pathLst>
                <a:path h="2578036" w="23241000">
                  <a:moveTo>
                    <a:pt x="0" y="0"/>
                  </a:moveTo>
                  <a:lnTo>
                    <a:pt x="23241000" y="0"/>
                  </a:lnTo>
                  <a:lnTo>
                    <a:pt x="23241000" y="2578036"/>
                  </a:lnTo>
                  <a:lnTo>
                    <a:pt x="0" y="2578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6858" y="8515335"/>
            <a:ext cx="810985" cy="599423"/>
            <a:chOff x="0" y="0"/>
            <a:chExt cx="1168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8400" cy="863600"/>
            </a:xfrm>
            <a:custGeom>
              <a:avLst/>
              <a:gdLst/>
              <a:ahLst/>
              <a:cxnLst/>
              <a:rect r="r" b="b" t="t" l="l"/>
              <a:pathLst>
                <a:path h="863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730653" y="8654956"/>
            <a:ext cx="12287473" cy="79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</a:pPr>
            <a:r>
              <a:rPr lang="en-US" sz="2602" b="true">
                <a:solidFill>
                  <a:srgbClr val="0027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don’t produce detections. We produce a maintained, self-verifying map of the city’s road condition — and it verifies its own repairs.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520936" y="8920828"/>
            <a:ext cx="608238" cy="599423"/>
            <a:chOff x="0" y="0"/>
            <a:chExt cx="876300" cy="863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6300" cy="863600"/>
            </a:xfrm>
            <a:custGeom>
              <a:avLst/>
              <a:gdLst/>
              <a:ahLst/>
              <a:cxnLst/>
              <a:rect r="r" b="b" t="t" l="l"/>
              <a:pathLst>
                <a:path h="863600" w="8763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 &amp; BENEFITS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8" id="1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Rolling Census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" y="1760792"/>
            <a:ext cx="16184880" cy="576072"/>
            <a:chOff x="0" y="0"/>
            <a:chExt cx="21579840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79839" cy="768096"/>
            </a:xfrm>
            <a:custGeom>
              <a:avLst/>
              <a:gdLst/>
              <a:ahLst/>
              <a:cxnLst/>
              <a:rect r="r" b="b" t="t" l="l"/>
              <a:pathLst>
                <a:path h="76809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7436" r="0" b="-4974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157984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 sensing layer → a closed loop from detection to action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59942" y="2451164"/>
            <a:ext cx="3900678" cy="1584428"/>
            <a:chOff x="0" y="0"/>
            <a:chExt cx="5200904" cy="21125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00904" cy="2112570"/>
            </a:xfrm>
            <a:custGeom>
              <a:avLst/>
              <a:gdLst/>
              <a:ahLst/>
              <a:cxnLst/>
              <a:rect r="r" b="b" t="t" l="l"/>
              <a:pathLst>
                <a:path h="2112570" w="5200904">
                  <a:moveTo>
                    <a:pt x="0" y="352055"/>
                  </a:moveTo>
                  <a:cubicBezTo>
                    <a:pt x="0" y="157658"/>
                    <a:pt x="168402" y="0"/>
                    <a:pt x="376047" y="0"/>
                  </a:cubicBezTo>
                  <a:lnTo>
                    <a:pt x="4824857" y="0"/>
                  </a:lnTo>
                  <a:cubicBezTo>
                    <a:pt x="5032629" y="0"/>
                    <a:pt x="5200904" y="157658"/>
                    <a:pt x="5200904" y="352055"/>
                  </a:cubicBezTo>
                  <a:lnTo>
                    <a:pt x="5200904" y="1760515"/>
                  </a:lnTo>
                  <a:cubicBezTo>
                    <a:pt x="5200904" y="1955031"/>
                    <a:pt x="5032502" y="2112570"/>
                    <a:pt x="4824857" y="2112570"/>
                  </a:cubicBezTo>
                  <a:lnTo>
                    <a:pt x="376047" y="2112570"/>
                  </a:lnTo>
                  <a:cubicBezTo>
                    <a:pt x="168402" y="2112570"/>
                    <a:pt x="0" y="1954912"/>
                    <a:pt x="0" y="1760515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75207" y="2652695"/>
            <a:ext cx="493776" cy="462273"/>
            <a:chOff x="0" y="0"/>
            <a:chExt cx="658368" cy="6163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308182"/>
                  </a:moveTo>
                  <a:cubicBezTo>
                    <a:pt x="0" y="137921"/>
                    <a:pt x="147320" y="0"/>
                    <a:pt x="329184" y="0"/>
                  </a:cubicBezTo>
                  <a:cubicBezTo>
                    <a:pt x="511048" y="0"/>
                    <a:pt x="658368" y="137921"/>
                    <a:pt x="658368" y="308182"/>
                  </a:cubicBezTo>
                  <a:cubicBezTo>
                    <a:pt x="658368" y="478443"/>
                    <a:pt x="511048" y="616364"/>
                    <a:pt x="329184" y="616364"/>
                  </a:cubicBezTo>
                  <a:cubicBezTo>
                    <a:pt x="147320" y="616364"/>
                    <a:pt x="0" y="478443"/>
                    <a:pt x="0" y="308182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75207" y="2652695"/>
            <a:ext cx="493776" cy="462273"/>
            <a:chOff x="0" y="0"/>
            <a:chExt cx="658368" cy="6163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16364"/>
                  </a:lnTo>
                  <a:lnTo>
                    <a:pt x="0" y="6163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-681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58368" cy="616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19859" y="2627013"/>
            <a:ext cx="2770632" cy="359546"/>
            <a:chOff x="0" y="0"/>
            <a:chExt cx="3694176" cy="4793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94176" cy="479395"/>
            </a:xfrm>
            <a:custGeom>
              <a:avLst/>
              <a:gdLst/>
              <a:ahLst/>
              <a:cxnLst/>
              <a:rect r="r" b="b" t="t" l="l"/>
              <a:pathLst>
                <a:path h="479395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9395"/>
                  </a:lnTo>
                  <a:lnTo>
                    <a:pt x="0" y="4793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6742" r="0" b="-10355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694176" cy="479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3"/>
                </a:lnSpc>
              </a:pPr>
              <a:r>
                <a:rPr lang="en-US" sz="17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PROACTIVE MAINTENANCE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5207" y="3040222"/>
            <a:ext cx="3360420" cy="970301"/>
            <a:chOff x="0" y="0"/>
            <a:chExt cx="4480560" cy="12937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80560" cy="1293735"/>
            </a:xfrm>
            <a:custGeom>
              <a:avLst/>
              <a:gdLst/>
              <a:ahLst/>
              <a:cxnLst/>
              <a:rect r="r" b="b" t="t" l="l"/>
              <a:pathLst>
                <a:path h="1293735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93735"/>
                  </a:lnTo>
                  <a:lnTo>
                    <a:pt x="0" y="12937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901" r="0" b="-70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480560" cy="1293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Detect repeat potholes, damaged carriageways, missing dividers, crossings and signs before complaints pile up.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202174" y="2451164"/>
            <a:ext cx="3900678" cy="1584428"/>
            <a:chOff x="0" y="0"/>
            <a:chExt cx="5200904" cy="21125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00904" cy="2112570"/>
            </a:xfrm>
            <a:custGeom>
              <a:avLst/>
              <a:gdLst/>
              <a:ahLst/>
              <a:cxnLst/>
              <a:rect r="r" b="b" t="t" l="l"/>
              <a:pathLst>
                <a:path h="2112570" w="5200904">
                  <a:moveTo>
                    <a:pt x="0" y="352055"/>
                  </a:moveTo>
                  <a:cubicBezTo>
                    <a:pt x="0" y="157658"/>
                    <a:pt x="168402" y="0"/>
                    <a:pt x="376047" y="0"/>
                  </a:cubicBezTo>
                  <a:lnTo>
                    <a:pt x="4824857" y="0"/>
                  </a:lnTo>
                  <a:cubicBezTo>
                    <a:pt x="5032629" y="0"/>
                    <a:pt x="5200904" y="157658"/>
                    <a:pt x="5200904" y="352055"/>
                  </a:cubicBezTo>
                  <a:lnTo>
                    <a:pt x="5200904" y="1760515"/>
                  </a:lnTo>
                  <a:cubicBezTo>
                    <a:pt x="5200904" y="1955031"/>
                    <a:pt x="5032502" y="2112570"/>
                    <a:pt x="4824857" y="2112570"/>
                  </a:cubicBezTo>
                  <a:lnTo>
                    <a:pt x="376047" y="2112570"/>
                  </a:lnTo>
                  <a:cubicBezTo>
                    <a:pt x="168402" y="2112570"/>
                    <a:pt x="0" y="1954912"/>
                    <a:pt x="0" y="1760515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5417439" y="2652695"/>
            <a:ext cx="493776" cy="462273"/>
            <a:chOff x="0" y="0"/>
            <a:chExt cx="658368" cy="6163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308182"/>
                  </a:moveTo>
                  <a:cubicBezTo>
                    <a:pt x="0" y="137921"/>
                    <a:pt x="147320" y="0"/>
                    <a:pt x="329184" y="0"/>
                  </a:cubicBezTo>
                  <a:cubicBezTo>
                    <a:pt x="511048" y="0"/>
                    <a:pt x="658368" y="137921"/>
                    <a:pt x="658368" y="308182"/>
                  </a:cubicBezTo>
                  <a:cubicBezTo>
                    <a:pt x="658368" y="478443"/>
                    <a:pt x="511048" y="616364"/>
                    <a:pt x="329184" y="616364"/>
                  </a:cubicBezTo>
                  <a:cubicBezTo>
                    <a:pt x="147320" y="616364"/>
                    <a:pt x="0" y="478443"/>
                    <a:pt x="0" y="308182"/>
                  </a:cubicBezTo>
                  <a:close/>
                </a:path>
              </a:pathLst>
            </a:custGeom>
            <a:solidFill>
              <a:srgbClr val="4C91D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417439" y="2652695"/>
            <a:ext cx="493776" cy="462273"/>
            <a:chOff x="0" y="0"/>
            <a:chExt cx="658368" cy="6163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16364"/>
                  </a:lnTo>
                  <a:lnTo>
                    <a:pt x="0" y="6163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-681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58368" cy="616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062091" y="2627013"/>
            <a:ext cx="2770632" cy="359546"/>
            <a:chOff x="0" y="0"/>
            <a:chExt cx="3694176" cy="47939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94176" cy="479395"/>
            </a:xfrm>
            <a:custGeom>
              <a:avLst/>
              <a:gdLst/>
              <a:ahLst/>
              <a:cxnLst/>
              <a:rect r="r" b="b" t="t" l="l"/>
              <a:pathLst>
                <a:path h="479395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9395"/>
                  </a:lnTo>
                  <a:lnTo>
                    <a:pt x="0" y="4793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6742" r="0" b="-10355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694176" cy="479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3"/>
                </a:lnSpc>
              </a:pPr>
              <a:r>
                <a:rPr lang="en-US" sz="17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TRAFFIC MANAGEMENT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417439" y="3079518"/>
            <a:ext cx="3360420" cy="741701"/>
            <a:chOff x="0" y="0"/>
            <a:chExt cx="4480560" cy="98893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80560" cy="988935"/>
            </a:xfrm>
            <a:custGeom>
              <a:avLst/>
              <a:gdLst/>
              <a:ahLst/>
              <a:cxnLst/>
              <a:rect r="r" b="b" t="t" l="l"/>
              <a:pathLst>
                <a:path h="988935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988935"/>
                  </a:lnTo>
                  <a:lnTo>
                    <a:pt x="0" y="9889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501" r="0" b="-4006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480560" cy="988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Estimate vehicle density; surface bottlenecks, recurring congestion and route delay patterns.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59942" y="4287416"/>
            <a:ext cx="3900678" cy="1584428"/>
            <a:chOff x="0" y="0"/>
            <a:chExt cx="5200904" cy="211257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00904" cy="2112570"/>
            </a:xfrm>
            <a:custGeom>
              <a:avLst/>
              <a:gdLst/>
              <a:ahLst/>
              <a:cxnLst/>
              <a:rect r="r" b="b" t="t" l="l"/>
              <a:pathLst>
                <a:path h="2112570" w="5200904">
                  <a:moveTo>
                    <a:pt x="0" y="352055"/>
                  </a:moveTo>
                  <a:cubicBezTo>
                    <a:pt x="0" y="157658"/>
                    <a:pt x="168402" y="0"/>
                    <a:pt x="376047" y="0"/>
                  </a:cubicBezTo>
                  <a:lnTo>
                    <a:pt x="4824857" y="0"/>
                  </a:lnTo>
                  <a:cubicBezTo>
                    <a:pt x="5032629" y="0"/>
                    <a:pt x="5200904" y="157658"/>
                    <a:pt x="5200904" y="352055"/>
                  </a:cubicBezTo>
                  <a:lnTo>
                    <a:pt x="5200904" y="1760515"/>
                  </a:lnTo>
                  <a:cubicBezTo>
                    <a:pt x="5200904" y="1955031"/>
                    <a:pt x="5032502" y="2112570"/>
                    <a:pt x="4824857" y="2112570"/>
                  </a:cubicBezTo>
                  <a:lnTo>
                    <a:pt x="376047" y="2112570"/>
                  </a:lnTo>
                  <a:cubicBezTo>
                    <a:pt x="168402" y="2112570"/>
                    <a:pt x="0" y="1954912"/>
                    <a:pt x="0" y="1760515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75207" y="4488947"/>
            <a:ext cx="493776" cy="462273"/>
            <a:chOff x="0" y="0"/>
            <a:chExt cx="658368" cy="6163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308182"/>
                  </a:moveTo>
                  <a:cubicBezTo>
                    <a:pt x="0" y="137921"/>
                    <a:pt x="147320" y="0"/>
                    <a:pt x="329184" y="0"/>
                  </a:cubicBezTo>
                  <a:cubicBezTo>
                    <a:pt x="511048" y="0"/>
                    <a:pt x="658368" y="137921"/>
                    <a:pt x="658368" y="308182"/>
                  </a:cubicBezTo>
                  <a:cubicBezTo>
                    <a:pt x="658368" y="478443"/>
                    <a:pt x="511048" y="616364"/>
                    <a:pt x="329184" y="616364"/>
                  </a:cubicBezTo>
                  <a:cubicBezTo>
                    <a:pt x="147320" y="616364"/>
                    <a:pt x="0" y="478443"/>
                    <a:pt x="0" y="308182"/>
                  </a:cubicBezTo>
                  <a:close/>
                </a:path>
              </a:pathLst>
            </a:custGeom>
            <a:solidFill>
              <a:srgbClr val="EA525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75207" y="4488947"/>
            <a:ext cx="493776" cy="462273"/>
            <a:chOff x="0" y="0"/>
            <a:chExt cx="658368" cy="6163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16364"/>
                  </a:lnTo>
                  <a:lnTo>
                    <a:pt x="0" y="6163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-681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58368" cy="616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919859" y="4463265"/>
            <a:ext cx="2770632" cy="359546"/>
            <a:chOff x="0" y="0"/>
            <a:chExt cx="3694176" cy="4793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94176" cy="479395"/>
            </a:xfrm>
            <a:custGeom>
              <a:avLst/>
              <a:gdLst/>
              <a:ahLst/>
              <a:cxnLst/>
              <a:rect r="r" b="b" t="t" l="l"/>
              <a:pathLst>
                <a:path h="479395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9395"/>
                  </a:lnTo>
                  <a:lnTo>
                    <a:pt x="0" y="4793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6742" r="0" b="-1035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694176" cy="479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3"/>
                </a:lnSpc>
              </a:pPr>
              <a:r>
                <a:rPr lang="en-US" sz="17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PUBLIC SAFETY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75207" y="4889000"/>
            <a:ext cx="3360420" cy="773978"/>
            <a:chOff x="0" y="0"/>
            <a:chExt cx="4480560" cy="10319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480560" cy="1031971"/>
            </a:xfrm>
            <a:custGeom>
              <a:avLst/>
              <a:gdLst/>
              <a:ahLst/>
              <a:cxnLst/>
              <a:rect r="r" b="b" t="t" l="l"/>
              <a:pathLst>
                <a:path h="1031971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31971"/>
                  </a:lnTo>
                  <a:lnTo>
                    <a:pt x="0" y="10319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979" r="0" b="-3421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480560" cy="1031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1"/>
                </a:lnSpc>
              </a:pPr>
              <a:r>
                <a:rPr lang="en-US" sz="160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Flag vulnerable pedestrian situations; package hit-and-run / rash-driving evidence with time + GPS.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202174" y="4287416"/>
            <a:ext cx="3900678" cy="1584428"/>
            <a:chOff x="0" y="0"/>
            <a:chExt cx="5200904" cy="21125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00904" cy="2112570"/>
            </a:xfrm>
            <a:custGeom>
              <a:avLst/>
              <a:gdLst/>
              <a:ahLst/>
              <a:cxnLst/>
              <a:rect r="r" b="b" t="t" l="l"/>
              <a:pathLst>
                <a:path h="2112570" w="5200904">
                  <a:moveTo>
                    <a:pt x="0" y="352055"/>
                  </a:moveTo>
                  <a:cubicBezTo>
                    <a:pt x="0" y="157658"/>
                    <a:pt x="168402" y="0"/>
                    <a:pt x="376047" y="0"/>
                  </a:cubicBezTo>
                  <a:lnTo>
                    <a:pt x="4824857" y="0"/>
                  </a:lnTo>
                  <a:cubicBezTo>
                    <a:pt x="5032629" y="0"/>
                    <a:pt x="5200904" y="157658"/>
                    <a:pt x="5200904" y="352055"/>
                  </a:cubicBezTo>
                  <a:lnTo>
                    <a:pt x="5200904" y="1760515"/>
                  </a:lnTo>
                  <a:cubicBezTo>
                    <a:pt x="5200904" y="1955031"/>
                    <a:pt x="5032502" y="2112570"/>
                    <a:pt x="4824857" y="2112570"/>
                  </a:cubicBezTo>
                  <a:lnTo>
                    <a:pt x="376047" y="2112570"/>
                  </a:lnTo>
                  <a:cubicBezTo>
                    <a:pt x="168402" y="2112570"/>
                    <a:pt x="0" y="1954912"/>
                    <a:pt x="0" y="1760515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5417439" y="4488947"/>
            <a:ext cx="493776" cy="462273"/>
            <a:chOff x="0" y="0"/>
            <a:chExt cx="658368" cy="6163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308182"/>
                  </a:moveTo>
                  <a:cubicBezTo>
                    <a:pt x="0" y="137921"/>
                    <a:pt x="147320" y="0"/>
                    <a:pt x="329184" y="0"/>
                  </a:cubicBezTo>
                  <a:cubicBezTo>
                    <a:pt x="511048" y="0"/>
                    <a:pt x="658368" y="137921"/>
                    <a:pt x="658368" y="308182"/>
                  </a:cubicBezTo>
                  <a:cubicBezTo>
                    <a:pt x="658368" y="478443"/>
                    <a:pt x="511048" y="616364"/>
                    <a:pt x="329184" y="616364"/>
                  </a:cubicBezTo>
                  <a:cubicBezTo>
                    <a:pt x="147320" y="616364"/>
                    <a:pt x="0" y="478443"/>
                    <a:pt x="0" y="308182"/>
                  </a:cubicBezTo>
                  <a:close/>
                </a:path>
              </a:pathLst>
            </a:custGeom>
            <a:solidFill>
              <a:srgbClr val="37B9A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417439" y="4488947"/>
            <a:ext cx="493776" cy="462273"/>
            <a:chOff x="0" y="0"/>
            <a:chExt cx="658368" cy="6163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16364"/>
                  </a:lnTo>
                  <a:lnTo>
                    <a:pt x="0" y="6163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-681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658368" cy="616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62091" y="4463265"/>
            <a:ext cx="2770632" cy="359546"/>
            <a:chOff x="0" y="0"/>
            <a:chExt cx="3694176" cy="4793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94176" cy="479395"/>
            </a:xfrm>
            <a:custGeom>
              <a:avLst/>
              <a:gdLst/>
              <a:ahLst/>
              <a:cxnLst/>
              <a:rect r="r" b="b" t="t" l="l"/>
              <a:pathLst>
                <a:path h="479395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9395"/>
                  </a:lnTo>
                  <a:lnTo>
                    <a:pt x="0" y="4793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6742" r="0" b="-10355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3694176" cy="479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3"/>
                </a:lnSpc>
              </a:pPr>
              <a:r>
                <a:rPr lang="en-US" sz="17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BETTER BUS OPERATIONS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417439" y="4889000"/>
            <a:ext cx="3360420" cy="773978"/>
            <a:chOff x="0" y="0"/>
            <a:chExt cx="4480560" cy="10319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80560" cy="1031971"/>
            </a:xfrm>
            <a:custGeom>
              <a:avLst/>
              <a:gdLst/>
              <a:ahLst/>
              <a:cxnLst/>
              <a:rect r="r" b="b" t="t" l="l"/>
              <a:pathLst>
                <a:path h="1031971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31971"/>
                  </a:lnTo>
                  <a:lnTo>
                    <a:pt x="0" y="10319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979" r="0" b="-342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4480560" cy="1031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31"/>
                </a:lnSpc>
              </a:pPr>
              <a:r>
                <a:rPr lang="en-US" sz="160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Use route delay, dwell and road-condition context to support service planning.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59942" y="6123669"/>
            <a:ext cx="3900678" cy="1584428"/>
            <a:chOff x="0" y="0"/>
            <a:chExt cx="5200904" cy="21125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00904" cy="2112570"/>
            </a:xfrm>
            <a:custGeom>
              <a:avLst/>
              <a:gdLst/>
              <a:ahLst/>
              <a:cxnLst/>
              <a:rect r="r" b="b" t="t" l="l"/>
              <a:pathLst>
                <a:path h="2112570" w="5200904">
                  <a:moveTo>
                    <a:pt x="0" y="352055"/>
                  </a:moveTo>
                  <a:cubicBezTo>
                    <a:pt x="0" y="157658"/>
                    <a:pt x="168402" y="0"/>
                    <a:pt x="376047" y="0"/>
                  </a:cubicBezTo>
                  <a:lnTo>
                    <a:pt x="4824857" y="0"/>
                  </a:lnTo>
                  <a:cubicBezTo>
                    <a:pt x="5032629" y="0"/>
                    <a:pt x="5200904" y="157658"/>
                    <a:pt x="5200904" y="352055"/>
                  </a:cubicBezTo>
                  <a:lnTo>
                    <a:pt x="5200904" y="1760515"/>
                  </a:lnTo>
                  <a:cubicBezTo>
                    <a:pt x="5200904" y="1955031"/>
                    <a:pt x="5032502" y="2112570"/>
                    <a:pt x="4824857" y="2112570"/>
                  </a:cubicBezTo>
                  <a:lnTo>
                    <a:pt x="376047" y="2112570"/>
                  </a:lnTo>
                  <a:cubicBezTo>
                    <a:pt x="168402" y="2112570"/>
                    <a:pt x="0" y="1954912"/>
                    <a:pt x="0" y="1760515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75207" y="6325200"/>
            <a:ext cx="493776" cy="462273"/>
            <a:chOff x="0" y="0"/>
            <a:chExt cx="658368" cy="61636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308182"/>
                  </a:moveTo>
                  <a:cubicBezTo>
                    <a:pt x="0" y="137921"/>
                    <a:pt x="147320" y="0"/>
                    <a:pt x="329184" y="0"/>
                  </a:cubicBezTo>
                  <a:cubicBezTo>
                    <a:pt x="511048" y="0"/>
                    <a:pt x="658368" y="137921"/>
                    <a:pt x="658368" y="308182"/>
                  </a:cubicBezTo>
                  <a:cubicBezTo>
                    <a:pt x="658368" y="478443"/>
                    <a:pt x="511048" y="616364"/>
                    <a:pt x="329184" y="616364"/>
                  </a:cubicBezTo>
                  <a:cubicBezTo>
                    <a:pt x="147320" y="616364"/>
                    <a:pt x="0" y="478443"/>
                    <a:pt x="0" y="308182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75207" y="6325200"/>
            <a:ext cx="493776" cy="462273"/>
            <a:chOff x="0" y="0"/>
            <a:chExt cx="658368" cy="61636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16364"/>
                  </a:lnTo>
                  <a:lnTo>
                    <a:pt x="0" y="6163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-681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658368" cy="616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919859" y="6266759"/>
            <a:ext cx="2770632" cy="513472"/>
            <a:chOff x="0" y="0"/>
            <a:chExt cx="3694176" cy="68462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94176" cy="684629"/>
            </a:xfrm>
            <a:custGeom>
              <a:avLst/>
              <a:gdLst/>
              <a:ahLst/>
              <a:cxnLst/>
              <a:rect r="r" b="b" t="t" l="l"/>
              <a:pathLst>
                <a:path h="684629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684629"/>
                  </a:lnTo>
                  <a:lnTo>
                    <a:pt x="0" y="6846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7741" r="0" b="-4253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3694176" cy="6846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3"/>
                </a:lnSpc>
              </a:pPr>
              <a:r>
                <a:rPr lang="en-US" sz="15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EVIDENCE-BASED GOVERNANCE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75207" y="6721370"/>
            <a:ext cx="3360420" cy="834830"/>
            <a:chOff x="0" y="0"/>
            <a:chExt cx="4480560" cy="111310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480560" cy="1113107"/>
            </a:xfrm>
            <a:custGeom>
              <a:avLst/>
              <a:gdLst/>
              <a:ahLst/>
              <a:cxnLst/>
              <a:rect r="r" b="b" t="t" l="l"/>
              <a:pathLst>
                <a:path h="1113107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113107"/>
                  </a:lnTo>
                  <a:lnTo>
                    <a:pt x="0" y="111310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429" r="0" b="-2443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4480560" cy="1113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51"/>
                </a:lnSpc>
              </a:pPr>
              <a:r>
                <a:rPr lang="en-US" sz="170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One GIS view for events, severity, history, asset state and response workflows.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202174" y="6123669"/>
            <a:ext cx="3900678" cy="1584428"/>
            <a:chOff x="0" y="0"/>
            <a:chExt cx="5200904" cy="211257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00904" cy="2112570"/>
            </a:xfrm>
            <a:custGeom>
              <a:avLst/>
              <a:gdLst/>
              <a:ahLst/>
              <a:cxnLst/>
              <a:rect r="r" b="b" t="t" l="l"/>
              <a:pathLst>
                <a:path h="2112570" w="5200904">
                  <a:moveTo>
                    <a:pt x="0" y="352055"/>
                  </a:moveTo>
                  <a:cubicBezTo>
                    <a:pt x="0" y="157658"/>
                    <a:pt x="168402" y="0"/>
                    <a:pt x="376047" y="0"/>
                  </a:cubicBezTo>
                  <a:lnTo>
                    <a:pt x="4824857" y="0"/>
                  </a:lnTo>
                  <a:cubicBezTo>
                    <a:pt x="5032629" y="0"/>
                    <a:pt x="5200904" y="157658"/>
                    <a:pt x="5200904" y="352055"/>
                  </a:cubicBezTo>
                  <a:lnTo>
                    <a:pt x="5200904" y="1760515"/>
                  </a:lnTo>
                  <a:cubicBezTo>
                    <a:pt x="5200904" y="1955031"/>
                    <a:pt x="5032502" y="2112570"/>
                    <a:pt x="4824857" y="2112570"/>
                  </a:cubicBezTo>
                  <a:lnTo>
                    <a:pt x="376047" y="2112570"/>
                  </a:lnTo>
                  <a:cubicBezTo>
                    <a:pt x="168402" y="2112570"/>
                    <a:pt x="0" y="1954912"/>
                    <a:pt x="0" y="1760515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5417439" y="6325200"/>
            <a:ext cx="493776" cy="462273"/>
            <a:chOff x="0" y="0"/>
            <a:chExt cx="658368" cy="6163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308182"/>
                  </a:moveTo>
                  <a:cubicBezTo>
                    <a:pt x="0" y="137921"/>
                    <a:pt x="147320" y="0"/>
                    <a:pt x="329184" y="0"/>
                  </a:cubicBezTo>
                  <a:cubicBezTo>
                    <a:pt x="511048" y="0"/>
                    <a:pt x="658368" y="137921"/>
                    <a:pt x="658368" y="308182"/>
                  </a:cubicBezTo>
                  <a:cubicBezTo>
                    <a:pt x="658368" y="478443"/>
                    <a:pt x="511048" y="616364"/>
                    <a:pt x="329184" y="616364"/>
                  </a:cubicBezTo>
                  <a:cubicBezTo>
                    <a:pt x="147320" y="616364"/>
                    <a:pt x="0" y="478443"/>
                    <a:pt x="0" y="308182"/>
                  </a:cubicBezTo>
                  <a:close/>
                </a:path>
              </a:pathLst>
            </a:custGeom>
            <a:solidFill>
              <a:srgbClr val="F6C53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5417439" y="6325200"/>
            <a:ext cx="493776" cy="462273"/>
            <a:chOff x="0" y="0"/>
            <a:chExt cx="658368" cy="6163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58368" cy="616364"/>
            </a:xfrm>
            <a:custGeom>
              <a:avLst/>
              <a:gdLst/>
              <a:ahLst/>
              <a:cxnLst/>
              <a:rect r="r" b="b" t="t" l="l"/>
              <a:pathLst>
                <a:path h="616364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16364"/>
                  </a:lnTo>
                  <a:lnTo>
                    <a:pt x="0" y="6163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-681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658368" cy="616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062091" y="6299518"/>
            <a:ext cx="2770632" cy="359546"/>
            <a:chOff x="0" y="0"/>
            <a:chExt cx="3694176" cy="47939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694176" cy="479395"/>
            </a:xfrm>
            <a:custGeom>
              <a:avLst/>
              <a:gdLst/>
              <a:ahLst/>
              <a:cxnLst/>
              <a:rect r="r" b="b" t="t" l="l"/>
              <a:pathLst>
                <a:path h="479395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9395"/>
                  </a:lnTo>
                  <a:lnTo>
                    <a:pt x="0" y="4793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6742" r="0" b="-10355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3694176" cy="479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3"/>
                </a:lnSpc>
              </a:pPr>
              <a:r>
                <a:rPr lang="en-US" sz="171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LOWER DATA COST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5417439" y="6721370"/>
            <a:ext cx="3360420" cy="834830"/>
            <a:chOff x="0" y="0"/>
            <a:chExt cx="4480560" cy="111310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480560" cy="1113107"/>
            </a:xfrm>
            <a:custGeom>
              <a:avLst/>
              <a:gdLst/>
              <a:ahLst/>
              <a:cxnLst/>
              <a:rect r="r" b="b" t="t" l="l"/>
              <a:pathLst>
                <a:path h="1113107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113107"/>
                  </a:lnTo>
                  <a:lnTo>
                    <a:pt x="0" y="111310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429" r="0" b="-2443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4480560" cy="1113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51"/>
                </a:lnSpc>
              </a:pPr>
              <a:r>
                <a:rPr lang="en-US" sz="1709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Edge-first processing; upload compact events and evidence only when triggered.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59942" y="7824021"/>
            <a:ext cx="8084058" cy="460432"/>
            <a:chOff x="0" y="0"/>
            <a:chExt cx="10778744" cy="61390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778744" cy="613909"/>
            </a:xfrm>
            <a:custGeom>
              <a:avLst/>
              <a:gdLst/>
              <a:ahLst/>
              <a:cxnLst/>
              <a:rect r="r" b="b" t="t" l="l"/>
              <a:pathLst>
                <a:path h="613909" w="10778744">
                  <a:moveTo>
                    <a:pt x="0" y="102277"/>
                  </a:moveTo>
                  <a:cubicBezTo>
                    <a:pt x="0" y="45870"/>
                    <a:pt x="46990" y="0"/>
                    <a:pt x="104775" y="0"/>
                  </a:cubicBezTo>
                  <a:lnTo>
                    <a:pt x="10673969" y="0"/>
                  </a:lnTo>
                  <a:cubicBezTo>
                    <a:pt x="10731881" y="0"/>
                    <a:pt x="10778744" y="45870"/>
                    <a:pt x="10778744" y="102277"/>
                  </a:cubicBezTo>
                  <a:lnTo>
                    <a:pt x="10778744" y="511633"/>
                  </a:lnTo>
                  <a:cubicBezTo>
                    <a:pt x="10778744" y="568164"/>
                    <a:pt x="10731753" y="613909"/>
                    <a:pt x="10673969" y="613909"/>
                  </a:cubicBezTo>
                  <a:lnTo>
                    <a:pt x="104775" y="613909"/>
                  </a:lnTo>
                  <a:cubicBezTo>
                    <a:pt x="46990" y="613909"/>
                    <a:pt x="0" y="568040"/>
                    <a:pt x="0" y="511633"/>
                  </a:cubicBezTo>
                  <a:close/>
                </a:path>
              </a:pathLst>
            </a:custGeom>
            <a:solidFill>
              <a:srgbClr val="1F2D32"/>
            </a:solidFill>
            <a:ln w="19050" cap="sq">
              <a:solidFill>
                <a:srgbClr val="37B9AA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20343" y="7900264"/>
            <a:ext cx="7749540" cy="267780"/>
            <a:chOff x="0" y="0"/>
            <a:chExt cx="10332720" cy="35703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332720" cy="357039"/>
            </a:xfrm>
            <a:custGeom>
              <a:avLst/>
              <a:gdLst/>
              <a:ahLst/>
              <a:cxnLst/>
              <a:rect r="r" b="b" t="t" l="l"/>
              <a:pathLst>
                <a:path h="357039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357039"/>
                  </a:lnTo>
                  <a:lnTo>
                    <a:pt x="0" y="3570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12675" r="0" b="-51511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0332720" cy="366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9"/>
                </a:lnSpc>
              </a:pPr>
              <a:r>
                <a:rPr lang="en-US" sz="137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CITY VALUE CHAIN  |  SENSE → VERIFY → PRIORITIZE → RESPOND → RE-MEASURE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01200" y="2451164"/>
            <a:ext cx="3009138" cy="5877342"/>
            <a:chOff x="0" y="0"/>
            <a:chExt cx="4012184" cy="7836457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012184" cy="7836457"/>
            </a:xfrm>
            <a:custGeom>
              <a:avLst/>
              <a:gdLst/>
              <a:ahLst/>
              <a:cxnLst/>
              <a:rect r="r" b="b" t="t" l="l"/>
              <a:pathLst>
                <a:path h="7836457" w="4012184">
                  <a:moveTo>
                    <a:pt x="0" y="679943"/>
                  </a:moveTo>
                  <a:cubicBezTo>
                    <a:pt x="0" y="304392"/>
                    <a:pt x="299339" y="0"/>
                    <a:pt x="668655" y="0"/>
                  </a:cubicBezTo>
                  <a:lnTo>
                    <a:pt x="3343529" y="0"/>
                  </a:lnTo>
                  <a:cubicBezTo>
                    <a:pt x="3712845" y="0"/>
                    <a:pt x="4012184" y="304392"/>
                    <a:pt x="4012184" y="679943"/>
                  </a:cubicBezTo>
                  <a:lnTo>
                    <a:pt x="4012184" y="7156514"/>
                  </a:lnTo>
                  <a:cubicBezTo>
                    <a:pt x="4012184" y="7532065"/>
                    <a:pt x="3712845" y="7836457"/>
                    <a:pt x="3343529" y="7836457"/>
                  </a:cubicBezTo>
                  <a:lnTo>
                    <a:pt x="668655" y="7836457"/>
                  </a:lnTo>
                  <a:cubicBezTo>
                    <a:pt x="299339" y="7836457"/>
                    <a:pt x="0" y="7532064"/>
                    <a:pt x="0" y="7156514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9967341" y="2707577"/>
            <a:ext cx="1714500" cy="384048"/>
            <a:chOff x="0" y="0"/>
            <a:chExt cx="2286000" cy="51206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286000" cy="512064"/>
            </a:xfrm>
            <a:custGeom>
              <a:avLst/>
              <a:gdLst/>
              <a:ahLst/>
              <a:cxnLst/>
              <a:rect r="r" b="b" t="t" l="l"/>
              <a:pathLst>
                <a:path h="512064" w="2286000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2200656" y="0"/>
                  </a:lnTo>
                  <a:cubicBezTo>
                    <a:pt x="2247773" y="0"/>
                    <a:pt x="2286000" y="38227"/>
                    <a:pt x="2286000" y="85344"/>
                  </a:cubicBezTo>
                  <a:lnTo>
                    <a:pt x="2286000" y="426720"/>
                  </a:lnTo>
                  <a:cubicBezTo>
                    <a:pt x="2286000" y="473837"/>
                    <a:pt x="2247773" y="512064"/>
                    <a:pt x="2200656" y="512064"/>
                  </a:cubicBezTo>
                  <a:lnTo>
                    <a:pt x="85344" y="512064"/>
                  </a:lnTo>
                  <a:cubicBezTo>
                    <a:pt x="3822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0035921" y="2721293"/>
            <a:ext cx="1577340" cy="329184"/>
            <a:chOff x="0" y="0"/>
            <a:chExt cx="2103120" cy="43891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103120" cy="438912"/>
            </a:xfrm>
            <a:custGeom>
              <a:avLst/>
              <a:gdLst/>
              <a:ahLst/>
              <a:cxnLst/>
              <a:rect r="r" b="b" t="t" l="l"/>
              <a:pathLst>
                <a:path h="438912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3365" r="0" b="-43365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21031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9"/>
                </a:lnSpc>
              </a:pPr>
              <a:r>
                <a:rPr lang="en-US" sz="1449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EVERY BUS TRIP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104501" y="3571685"/>
            <a:ext cx="466344" cy="466344"/>
            <a:chOff x="0" y="0"/>
            <a:chExt cx="621792" cy="6217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790301" y="3585400"/>
            <a:ext cx="1344168" cy="301752"/>
            <a:chOff x="0" y="0"/>
            <a:chExt cx="1792224" cy="40233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792224" cy="402336"/>
            </a:xfrm>
            <a:custGeom>
              <a:avLst/>
              <a:gdLst/>
              <a:ahLst/>
              <a:cxnLst/>
              <a:rect r="r" b="b" t="t" l="l"/>
              <a:pathLst>
                <a:path h="402336" w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179222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49"/>
                </a:lnSpc>
              </a:pPr>
              <a:r>
                <a:rPr lang="en-US" sz="137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VIDEO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104501" y="4422077"/>
            <a:ext cx="466344" cy="466344"/>
            <a:chOff x="0" y="0"/>
            <a:chExt cx="621792" cy="62179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37B9AA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790301" y="4435793"/>
            <a:ext cx="1344168" cy="301752"/>
            <a:chOff x="0" y="0"/>
            <a:chExt cx="1792224" cy="40233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792224" cy="402336"/>
            </a:xfrm>
            <a:custGeom>
              <a:avLst/>
              <a:gdLst/>
              <a:ahLst/>
              <a:cxnLst/>
              <a:rect r="r" b="b" t="t" l="l"/>
              <a:pathLst>
                <a:path h="402336" w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179222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49"/>
                </a:lnSpc>
              </a:pPr>
              <a:r>
                <a:rPr lang="en-US" sz="137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GPS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104501" y="5272469"/>
            <a:ext cx="466344" cy="466344"/>
            <a:chOff x="0" y="0"/>
            <a:chExt cx="621792" cy="62179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4C91DC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0790301" y="5286185"/>
            <a:ext cx="1344168" cy="301752"/>
            <a:chOff x="0" y="0"/>
            <a:chExt cx="1792224" cy="40233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792224" cy="402336"/>
            </a:xfrm>
            <a:custGeom>
              <a:avLst/>
              <a:gdLst/>
              <a:ahLst/>
              <a:cxnLst/>
              <a:rect r="r" b="b" t="t" l="l"/>
              <a:pathLst>
                <a:path h="402336" w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9525"/>
              <a:ext cx="179222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49"/>
                </a:lnSpc>
              </a:pPr>
              <a:r>
                <a:rPr lang="en-US" sz="137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ROUTE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104501" y="6122861"/>
            <a:ext cx="466344" cy="466344"/>
            <a:chOff x="0" y="0"/>
            <a:chExt cx="621792" cy="62179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6C53F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0790301" y="6136577"/>
            <a:ext cx="1344168" cy="301752"/>
            <a:chOff x="0" y="0"/>
            <a:chExt cx="179222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792224" cy="402336"/>
            </a:xfrm>
            <a:custGeom>
              <a:avLst/>
              <a:gdLst/>
              <a:ahLst/>
              <a:cxnLst/>
              <a:rect r="r" b="b" t="t" l="l"/>
              <a:pathLst>
                <a:path h="402336" w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179222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49"/>
                </a:lnSpc>
              </a:pPr>
              <a:r>
                <a:rPr lang="en-US" sz="1374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TIME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939909" y="7028117"/>
            <a:ext cx="2263140" cy="1300389"/>
            <a:chOff x="0" y="0"/>
            <a:chExt cx="3017520" cy="173385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017520" cy="1733853"/>
            </a:xfrm>
            <a:custGeom>
              <a:avLst/>
              <a:gdLst/>
              <a:ahLst/>
              <a:cxnLst/>
              <a:rect r="r" b="b" t="t" l="l"/>
              <a:pathLst>
                <a:path h="1733853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733853"/>
                  </a:lnTo>
                  <a:lnTo>
                    <a:pt x="0" y="17338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431" t="0" r="-4431" b="26166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9525"/>
              <a:ext cx="3017520" cy="1743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4"/>
                </a:lnSpc>
              </a:pPr>
              <a:r>
                <a:rPr lang="en-US" sz="1678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Continuous observations</a:t>
              </a:r>
            </a:p>
            <a:p>
              <a:pPr algn="ctr">
                <a:lnSpc>
                  <a:spcPts val="2014"/>
                </a:lnSpc>
              </a:pPr>
              <a:r>
                <a:rPr lang="en-US" sz="1678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without adding a fixed</a:t>
              </a:r>
            </a:p>
            <a:p>
              <a:pPr algn="ctr">
                <a:lnSpc>
                  <a:spcPts val="2014"/>
                </a:lnSpc>
              </a:pPr>
              <a:r>
                <a:rPr lang="en-US" sz="1678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roadside camera at</a:t>
              </a:r>
            </a:p>
            <a:p>
              <a:pPr algn="ctr">
                <a:lnSpc>
                  <a:spcPts val="2014"/>
                </a:lnSpc>
              </a:pPr>
              <a:r>
                <a:rPr lang="en-US" sz="1678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every point.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961620" y="2451164"/>
            <a:ext cx="3749802" cy="5779770"/>
            <a:chOff x="0" y="0"/>
            <a:chExt cx="4999736" cy="770636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999736" cy="7706360"/>
            </a:xfrm>
            <a:custGeom>
              <a:avLst/>
              <a:gdLst/>
              <a:ahLst/>
              <a:cxnLst/>
              <a:rect r="r" b="b" t="t" l="l"/>
              <a:pathLst>
                <a:path h="7706360" w="4999736">
                  <a:moveTo>
                    <a:pt x="0" y="833247"/>
                  </a:moveTo>
                  <a:cubicBezTo>
                    <a:pt x="0" y="373126"/>
                    <a:pt x="373126" y="0"/>
                    <a:pt x="833247" y="0"/>
                  </a:cubicBezTo>
                  <a:lnTo>
                    <a:pt x="4166489" y="0"/>
                  </a:lnTo>
                  <a:cubicBezTo>
                    <a:pt x="4626737" y="0"/>
                    <a:pt x="4999736" y="373126"/>
                    <a:pt x="4999736" y="833247"/>
                  </a:cubicBezTo>
                  <a:lnTo>
                    <a:pt x="4999736" y="6873113"/>
                  </a:lnTo>
                  <a:cubicBezTo>
                    <a:pt x="4999736" y="7333361"/>
                    <a:pt x="4626610" y="7706360"/>
                    <a:pt x="4166489" y="7706360"/>
                  </a:cubicBezTo>
                  <a:lnTo>
                    <a:pt x="833247" y="7706360"/>
                  </a:lnTo>
                  <a:cubicBezTo>
                    <a:pt x="373126" y="7706360"/>
                    <a:pt x="0" y="7333234"/>
                    <a:pt x="0" y="6873113"/>
                  </a:cubicBezTo>
                  <a:close/>
                </a:path>
              </a:pathLst>
            </a:custGeom>
            <a:solidFill>
              <a:srgbClr val="141C22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13437489" y="2707577"/>
            <a:ext cx="2167128" cy="384048"/>
            <a:chOff x="0" y="0"/>
            <a:chExt cx="2889504" cy="51206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889504" cy="512064"/>
            </a:xfrm>
            <a:custGeom>
              <a:avLst/>
              <a:gdLst/>
              <a:ahLst/>
              <a:cxnLst/>
              <a:rect r="r" b="b" t="t" l="l"/>
              <a:pathLst>
                <a:path h="512064" w="2889504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2804160" y="0"/>
                  </a:lnTo>
                  <a:cubicBezTo>
                    <a:pt x="2851277" y="0"/>
                    <a:pt x="2889504" y="38227"/>
                    <a:pt x="2889504" y="85344"/>
                  </a:cubicBezTo>
                  <a:lnTo>
                    <a:pt x="2889504" y="426720"/>
                  </a:lnTo>
                  <a:cubicBezTo>
                    <a:pt x="2889504" y="473837"/>
                    <a:pt x="2851277" y="512064"/>
                    <a:pt x="2804160" y="512064"/>
                  </a:cubicBezTo>
                  <a:lnTo>
                    <a:pt x="85344" y="512064"/>
                  </a:lnTo>
                  <a:cubicBezTo>
                    <a:pt x="3822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3506069" y="2721293"/>
            <a:ext cx="2029968" cy="329184"/>
            <a:chOff x="0" y="0"/>
            <a:chExt cx="2706624" cy="43891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706624" cy="438912"/>
            </a:xfrm>
            <a:custGeom>
              <a:avLst/>
              <a:gdLst/>
              <a:ahLst/>
              <a:cxnLst/>
              <a:rect r="r" b="b" t="t" l="l"/>
              <a:pathLst>
                <a:path h="438912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0"/>
              <a:ext cx="2706624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9"/>
                </a:lnSpc>
              </a:pPr>
              <a:r>
                <a:rPr lang="en-US" sz="144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URBAN INTELLIGENCE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3469112" y="3548444"/>
            <a:ext cx="2693670" cy="430530"/>
            <a:chOff x="0" y="0"/>
            <a:chExt cx="3591560" cy="57404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591560" cy="574040"/>
            </a:xfrm>
            <a:custGeom>
              <a:avLst/>
              <a:gdLst/>
              <a:ahLst/>
              <a:cxnLst/>
              <a:rect r="r" b="b" t="t" l="l"/>
              <a:pathLst>
                <a:path h="574040" w="3591560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3495929" y="0"/>
                  </a:lnTo>
                  <a:cubicBezTo>
                    <a:pt x="3548761" y="0"/>
                    <a:pt x="3591560" y="42799"/>
                    <a:pt x="3591560" y="95631"/>
                  </a:cubicBezTo>
                  <a:lnTo>
                    <a:pt x="3591560" y="478409"/>
                  </a:lnTo>
                  <a:cubicBezTo>
                    <a:pt x="3591560" y="531241"/>
                    <a:pt x="3548761" y="574040"/>
                    <a:pt x="3495929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F2A30"/>
            </a:solidFill>
            <a:ln w="19050" cap="sq">
              <a:solidFill>
                <a:srgbClr val="FF7E23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13547217" y="3571685"/>
            <a:ext cx="2537460" cy="342900"/>
            <a:chOff x="0" y="0"/>
            <a:chExt cx="3383280" cy="4572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383278" cy="457200"/>
            </a:xfrm>
            <a:custGeom>
              <a:avLst/>
              <a:gdLst/>
              <a:ahLst/>
              <a:cxnLst/>
              <a:rect r="r" b="b" t="t" l="l"/>
              <a:pathLst>
                <a:path h="457200" w="3383278">
                  <a:moveTo>
                    <a:pt x="0" y="0"/>
                  </a:moveTo>
                  <a:lnTo>
                    <a:pt x="3383278" y="0"/>
                  </a:lnTo>
                  <a:lnTo>
                    <a:pt x="338327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3383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Road condition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469112" y="4453700"/>
            <a:ext cx="2693670" cy="430530"/>
            <a:chOff x="0" y="0"/>
            <a:chExt cx="3591560" cy="57404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591560" cy="574040"/>
            </a:xfrm>
            <a:custGeom>
              <a:avLst/>
              <a:gdLst/>
              <a:ahLst/>
              <a:cxnLst/>
              <a:rect r="r" b="b" t="t" l="l"/>
              <a:pathLst>
                <a:path h="574040" w="3591560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3495929" y="0"/>
                  </a:lnTo>
                  <a:cubicBezTo>
                    <a:pt x="3548761" y="0"/>
                    <a:pt x="3591560" y="42799"/>
                    <a:pt x="3591560" y="95631"/>
                  </a:cubicBezTo>
                  <a:lnTo>
                    <a:pt x="3591560" y="478409"/>
                  </a:lnTo>
                  <a:cubicBezTo>
                    <a:pt x="3591560" y="531241"/>
                    <a:pt x="3548761" y="574040"/>
                    <a:pt x="3495929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F2A30"/>
            </a:solidFill>
            <a:ln w="19050" cap="sq">
              <a:solidFill>
                <a:srgbClr val="4C91DC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13547217" y="4476941"/>
            <a:ext cx="2537460" cy="342900"/>
            <a:chOff x="0" y="0"/>
            <a:chExt cx="3383280" cy="45720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383278" cy="457200"/>
            </a:xfrm>
            <a:custGeom>
              <a:avLst/>
              <a:gdLst/>
              <a:ahLst/>
              <a:cxnLst/>
              <a:rect r="r" b="b" t="t" l="l"/>
              <a:pathLst>
                <a:path h="457200" w="3383278">
                  <a:moveTo>
                    <a:pt x="0" y="0"/>
                  </a:moveTo>
                  <a:lnTo>
                    <a:pt x="3383278" y="0"/>
                  </a:lnTo>
                  <a:lnTo>
                    <a:pt x="338327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3383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Traffic intelligence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3469112" y="5358956"/>
            <a:ext cx="2693670" cy="430530"/>
            <a:chOff x="0" y="0"/>
            <a:chExt cx="3591560" cy="5740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591560" cy="574040"/>
            </a:xfrm>
            <a:custGeom>
              <a:avLst/>
              <a:gdLst/>
              <a:ahLst/>
              <a:cxnLst/>
              <a:rect r="r" b="b" t="t" l="l"/>
              <a:pathLst>
                <a:path h="574040" w="3591560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3495929" y="0"/>
                  </a:lnTo>
                  <a:cubicBezTo>
                    <a:pt x="3548761" y="0"/>
                    <a:pt x="3591560" y="42799"/>
                    <a:pt x="3591560" y="95631"/>
                  </a:cubicBezTo>
                  <a:lnTo>
                    <a:pt x="3591560" y="478409"/>
                  </a:lnTo>
                  <a:cubicBezTo>
                    <a:pt x="3591560" y="531241"/>
                    <a:pt x="3548761" y="574040"/>
                    <a:pt x="3495929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F2A30"/>
            </a:solidFill>
            <a:ln w="19050" cap="sq">
              <a:solidFill>
                <a:srgbClr val="EA5252"/>
              </a:solidFill>
              <a:prstDash val="solid"/>
              <a:miter/>
            </a:ln>
          </p:spPr>
        </p:sp>
      </p:grpSp>
      <p:grpSp>
        <p:nvGrpSpPr>
          <p:cNvPr name="Group 157" id="157"/>
          <p:cNvGrpSpPr/>
          <p:nvPr/>
        </p:nvGrpSpPr>
        <p:grpSpPr>
          <a:xfrm rot="0">
            <a:off x="13547217" y="5382197"/>
            <a:ext cx="2537460" cy="342900"/>
            <a:chOff x="0" y="0"/>
            <a:chExt cx="3383280" cy="45720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3383278" cy="457200"/>
            </a:xfrm>
            <a:custGeom>
              <a:avLst/>
              <a:gdLst/>
              <a:ahLst/>
              <a:cxnLst/>
              <a:rect r="r" b="b" t="t" l="l"/>
              <a:pathLst>
                <a:path h="457200" w="3383278">
                  <a:moveTo>
                    <a:pt x="0" y="0"/>
                  </a:moveTo>
                  <a:lnTo>
                    <a:pt x="3383278" y="0"/>
                  </a:lnTo>
                  <a:lnTo>
                    <a:pt x="338327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3383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Public safety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3469112" y="6264212"/>
            <a:ext cx="2693670" cy="430530"/>
            <a:chOff x="0" y="0"/>
            <a:chExt cx="3591560" cy="5740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591560" cy="574040"/>
            </a:xfrm>
            <a:custGeom>
              <a:avLst/>
              <a:gdLst/>
              <a:ahLst/>
              <a:cxnLst/>
              <a:rect r="r" b="b" t="t" l="l"/>
              <a:pathLst>
                <a:path h="574040" w="3591560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3495929" y="0"/>
                  </a:lnTo>
                  <a:cubicBezTo>
                    <a:pt x="3548761" y="0"/>
                    <a:pt x="3591560" y="42799"/>
                    <a:pt x="3591560" y="95631"/>
                  </a:cubicBezTo>
                  <a:lnTo>
                    <a:pt x="3591560" y="478409"/>
                  </a:lnTo>
                  <a:cubicBezTo>
                    <a:pt x="3591560" y="531241"/>
                    <a:pt x="3548761" y="574040"/>
                    <a:pt x="3495929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F2A30"/>
            </a:solidFill>
            <a:ln w="19050" cap="sq">
              <a:solidFill>
                <a:srgbClr val="F6C53F"/>
              </a:solidFill>
              <a:prstDash val="solid"/>
              <a:miter/>
            </a:ln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547217" y="6287453"/>
            <a:ext cx="2537460" cy="342900"/>
            <a:chOff x="0" y="0"/>
            <a:chExt cx="3383280" cy="4572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3383278" cy="457200"/>
            </a:xfrm>
            <a:custGeom>
              <a:avLst/>
              <a:gdLst/>
              <a:ahLst/>
              <a:cxnLst/>
              <a:rect r="r" b="b" t="t" l="l"/>
              <a:pathLst>
                <a:path h="457200" w="3383278">
                  <a:moveTo>
                    <a:pt x="0" y="0"/>
                  </a:moveTo>
                  <a:lnTo>
                    <a:pt x="3383278" y="0"/>
                  </a:lnTo>
                  <a:lnTo>
                    <a:pt x="338327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0"/>
              <a:ext cx="3383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Infrastructure health</a:t>
              </a:r>
            </a:p>
          </p:txBody>
        </p:sp>
      </p:grpSp>
      <p:sp>
        <p:nvSpPr>
          <p:cNvPr name="AutoShape 165" id="165"/>
          <p:cNvSpPr/>
          <p:nvPr/>
        </p:nvSpPr>
        <p:spPr>
          <a:xfrm>
            <a:off x="12590714" y="5317237"/>
            <a:ext cx="404246" cy="47624"/>
          </a:xfrm>
          <a:prstGeom prst="line">
            <a:avLst/>
          </a:prstGeom>
          <a:ln cap="rnd" w="28575">
            <a:solidFill>
              <a:srgbClr val="15A0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6" id="166"/>
          <p:cNvGrpSpPr/>
          <p:nvPr/>
        </p:nvGrpSpPr>
        <p:grpSpPr>
          <a:xfrm rot="0">
            <a:off x="13488162" y="7151942"/>
            <a:ext cx="2674620" cy="1132512"/>
            <a:chOff x="0" y="0"/>
            <a:chExt cx="3566160" cy="1510016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3566160" cy="1510016"/>
            </a:xfrm>
            <a:custGeom>
              <a:avLst/>
              <a:gdLst/>
              <a:ahLst/>
              <a:cxnLst/>
              <a:rect r="r" b="b" t="t" l="l"/>
              <a:pathLst>
                <a:path h="151001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510016"/>
                  </a:lnTo>
                  <a:lnTo>
                    <a:pt x="0" y="15100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528" r="0" b="22493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9525"/>
              <a:ext cx="3566160" cy="1519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29"/>
                </a:lnSpc>
              </a:pPr>
              <a:r>
                <a:rPr lang="en-US" sz="177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Correlate</a:t>
              </a:r>
            </a:p>
            <a:p>
              <a:pPr algn="ctr">
                <a:lnSpc>
                  <a:spcPts val="2129"/>
                </a:lnSpc>
              </a:pPr>
              <a:r>
                <a:rPr lang="en-US" sz="177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• map-match</a:t>
              </a:r>
            </a:p>
            <a:p>
              <a:pPr algn="ctr">
                <a:lnSpc>
                  <a:spcPts val="2129"/>
                </a:lnSpc>
              </a:pPr>
              <a:r>
                <a:rPr lang="en-US" sz="177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• de-duplicate</a:t>
              </a:r>
            </a:p>
            <a:p>
              <a:pPr algn="ctr">
                <a:lnSpc>
                  <a:spcPts val="2129"/>
                </a:lnSpc>
              </a:pPr>
              <a:r>
                <a:rPr lang="en-US" sz="1774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• prioritize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&amp;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Rolling Census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120" y="1837944"/>
            <a:ext cx="16184880" cy="548640"/>
            <a:chOff x="0" y="0"/>
            <a:chExt cx="215798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79839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808" r="0" b="-5248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5798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C11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Evidence base + design anchors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8027" y="2706243"/>
            <a:ext cx="7946898" cy="1596390"/>
            <a:chOff x="0" y="0"/>
            <a:chExt cx="10595864" cy="2128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95864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595864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241153" y="0"/>
                  </a:lnTo>
                  <a:cubicBezTo>
                    <a:pt x="10437114" y="0"/>
                    <a:pt x="10595864" y="158877"/>
                    <a:pt x="10595864" y="354711"/>
                  </a:cubicBezTo>
                  <a:lnTo>
                    <a:pt x="10595864" y="1773809"/>
                  </a:lnTo>
                  <a:cubicBezTo>
                    <a:pt x="10595864" y="1969770"/>
                    <a:pt x="10436987" y="2128520"/>
                    <a:pt x="10241153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008" y="2962656"/>
            <a:ext cx="521208" cy="521208"/>
            <a:chOff x="0" y="0"/>
            <a:chExt cx="694944" cy="6949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008" y="2962656"/>
            <a:ext cx="521208" cy="521208"/>
            <a:chOff x="0" y="0"/>
            <a:chExt cx="694944" cy="6949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92808" y="2715768"/>
            <a:ext cx="2253366" cy="571119"/>
            <a:chOff x="0" y="0"/>
            <a:chExt cx="8778240" cy="22248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0" cy="2224858"/>
            </a:xfrm>
            <a:custGeom>
              <a:avLst/>
              <a:gdLst/>
              <a:ahLst/>
              <a:cxnLst/>
              <a:rect r="r" b="b" t="t" l="l"/>
              <a:pathLst>
                <a:path h="222485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224858"/>
                  </a:lnTo>
                  <a:lnTo>
                    <a:pt x="0" y="2224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36" r="0" b="1407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778240" cy="2224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7"/>
                </a:lnSpc>
              </a:pPr>
              <a:r>
                <a:rPr lang="en-US" sz="193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RDD</a:t>
              </a:r>
              <a:r>
                <a:rPr lang="en-US" sz="193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2022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92808" y="3236976"/>
            <a:ext cx="6652260" cy="577378"/>
            <a:chOff x="0" y="0"/>
            <a:chExt cx="8869680" cy="7698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69680" cy="769837"/>
            </a:xfrm>
            <a:custGeom>
              <a:avLst/>
              <a:gdLst/>
              <a:ahLst/>
              <a:cxnLst/>
              <a:rect r="r" b="b" t="t" l="l"/>
              <a:pathLst>
                <a:path h="769837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69837"/>
                  </a:lnTo>
                  <a:lnTo>
                    <a:pt x="0" y="769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610" r="0" b="-17438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869680" cy="779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2"/>
                </a:lnSpc>
              </a:pPr>
              <a:r>
                <a:rPr lang="en-US" sz="1702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47,000 d</a:t>
              </a:r>
              <a:r>
                <a:rPr lang="en-US" sz="1702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ashcam images - India subset included • Top benchmark: 78–84% mAP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92808" y="3867912"/>
            <a:ext cx="6652260" cy="310896"/>
            <a:chOff x="0" y="0"/>
            <a:chExt cx="8869680" cy="4145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869680" cy="414528"/>
            </a:xfrm>
            <a:custGeom>
              <a:avLst/>
              <a:gdLst/>
              <a:ahLst/>
              <a:cxnLst/>
              <a:rect r="r" b="b" t="t" l="l"/>
              <a:pathLst>
                <a:path h="414528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216" r="0" b="-3566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86968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 b="true">
                  <a:solidFill>
                    <a:srgbClr val="FF7E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github.com/sekilab/RoadDamageDetector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78027" y="4626483"/>
            <a:ext cx="7946898" cy="1596390"/>
            <a:chOff x="0" y="0"/>
            <a:chExt cx="10595864" cy="2128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595864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595864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241153" y="0"/>
                  </a:lnTo>
                  <a:cubicBezTo>
                    <a:pt x="10437114" y="0"/>
                    <a:pt x="10595864" y="158877"/>
                    <a:pt x="10595864" y="354711"/>
                  </a:cubicBezTo>
                  <a:lnTo>
                    <a:pt x="10595864" y="1773809"/>
                  </a:lnTo>
                  <a:cubicBezTo>
                    <a:pt x="10595864" y="1969770"/>
                    <a:pt x="10436987" y="2128520"/>
                    <a:pt x="10241153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07008" y="4882896"/>
            <a:ext cx="521208" cy="521208"/>
            <a:chOff x="0" y="0"/>
            <a:chExt cx="694944" cy="6949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07008" y="4882896"/>
            <a:ext cx="521208" cy="521208"/>
            <a:chOff x="0" y="0"/>
            <a:chExt cx="694944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92808" y="4800600"/>
            <a:ext cx="6018759" cy="321591"/>
            <a:chOff x="0" y="0"/>
            <a:chExt cx="8778240" cy="4690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78240" cy="469034"/>
            </a:xfrm>
            <a:custGeom>
              <a:avLst/>
              <a:gdLst/>
              <a:ahLst/>
              <a:cxnLst/>
              <a:rect r="r" b="b" t="t" l="l"/>
              <a:pathLst>
                <a:path h="46903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69034"/>
                  </a:lnTo>
                  <a:lnTo>
                    <a:pt x="0" y="4690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783" r="0" b="-30756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778240" cy="469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7"/>
                </a:lnSpc>
              </a:pPr>
              <a:r>
                <a:rPr lang="en-US" sz="173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BDD100K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92808" y="5157216"/>
            <a:ext cx="6652260" cy="576072"/>
            <a:chOff x="0" y="0"/>
            <a:chExt cx="886968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869680" cy="768096"/>
            </a:xfrm>
            <a:custGeom>
              <a:avLst/>
              <a:gdLst/>
              <a:ahLst/>
              <a:cxnLst/>
              <a:rect r="r" b="b" t="t" l="l"/>
              <a:pathLst>
                <a:path h="7680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05" r="0" b="-1750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869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2"/>
                </a:lnSpc>
              </a:pPr>
              <a:r>
                <a:rPr lang="en-US" sz="1802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100,000 </a:t>
              </a:r>
              <a:r>
                <a:rPr lang="en-US" sz="1802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driving videos - 10 detection classes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92808" y="5732831"/>
            <a:ext cx="6652260" cy="383397"/>
            <a:chOff x="0" y="0"/>
            <a:chExt cx="8869680" cy="5111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869680" cy="511196"/>
            </a:xfrm>
            <a:custGeom>
              <a:avLst/>
              <a:gdLst/>
              <a:ahLst/>
              <a:cxnLst/>
              <a:rect r="r" b="b" t="t" l="l"/>
              <a:pathLst>
                <a:path h="5111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511196"/>
                  </a:lnTo>
                  <a:lnTo>
                    <a:pt x="0" y="511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84" r="0" b="-27027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8869680" cy="511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5A0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bdd-data.berkeley.edu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78027" y="6546723"/>
            <a:ext cx="7946898" cy="1596390"/>
            <a:chOff x="0" y="0"/>
            <a:chExt cx="10595864" cy="2128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595864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595864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241153" y="0"/>
                  </a:lnTo>
                  <a:cubicBezTo>
                    <a:pt x="10437114" y="0"/>
                    <a:pt x="10595864" y="158877"/>
                    <a:pt x="10595864" y="354711"/>
                  </a:cubicBezTo>
                  <a:lnTo>
                    <a:pt x="10595864" y="1773809"/>
                  </a:lnTo>
                  <a:cubicBezTo>
                    <a:pt x="10595864" y="1969770"/>
                    <a:pt x="10436987" y="2128520"/>
                    <a:pt x="10241153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07008" y="6803136"/>
            <a:ext cx="521208" cy="521208"/>
            <a:chOff x="0" y="0"/>
            <a:chExt cx="694944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37B9A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07008" y="6803136"/>
            <a:ext cx="521208" cy="521208"/>
            <a:chOff x="0" y="0"/>
            <a:chExt cx="694944" cy="6949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892808" y="6720840"/>
            <a:ext cx="6583680" cy="301752"/>
            <a:chOff x="0" y="0"/>
            <a:chExt cx="877824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778240" cy="402336"/>
            </a:xfrm>
            <a:custGeom>
              <a:avLst/>
              <a:gdLst/>
              <a:ahLst/>
              <a:cxnLst/>
              <a:rect r="r" b="b" t="t" l="l"/>
              <a:pathLst>
                <a:path h="40233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5128" r="0" b="-37512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87782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RDD2022 – Road Damage Dataset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892808" y="7077456"/>
            <a:ext cx="6652260" cy="576072"/>
            <a:chOff x="0" y="0"/>
            <a:chExt cx="8869680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869680" cy="768096"/>
            </a:xfrm>
            <a:custGeom>
              <a:avLst/>
              <a:gdLst/>
              <a:ahLst/>
              <a:cxnLst/>
              <a:rect r="r" b="b" t="t" l="l"/>
              <a:pathLst>
                <a:path h="7680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05" r="0" b="-17500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869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2"/>
                </a:lnSpc>
              </a:pPr>
              <a:r>
                <a:rPr lang="en-US" sz="1502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Large road-damage benchmark with Indian imagery; useful starting point for road-hazard pretraining and local fine-tuning.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892808" y="7708392"/>
            <a:ext cx="6652260" cy="272755"/>
            <a:chOff x="0" y="0"/>
            <a:chExt cx="8869680" cy="36367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869680" cy="363673"/>
            </a:xfrm>
            <a:custGeom>
              <a:avLst/>
              <a:gdLst/>
              <a:ahLst/>
              <a:cxnLst/>
              <a:rect r="r" b="b" t="t" l="l"/>
              <a:pathLst>
                <a:path h="363673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363673"/>
                  </a:lnTo>
                  <a:lnTo>
                    <a:pt x="0" y="3636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965" r="0" b="-42048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8869680" cy="363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37B9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arxiv.org/abs/2209.08538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481947" y="2706243"/>
            <a:ext cx="7946898" cy="1596390"/>
            <a:chOff x="0" y="0"/>
            <a:chExt cx="10595864" cy="2128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595864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595864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241153" y="0"/>
                  </a:lnTo>
                  <a:cubicBezTo>
                    <a:pt x="10437114" y="0"/>
                    <a:pt x="10595864" y="158877"/>
                    <a:pt x="10595864" y="354711"/>
                  </a:cubicBezTo>
                  <a:lnTo>
                    <a:pt x="10595864" y="1773809"/>
                  </a:lnTo>
                  <a:cubicBezTo>
                    <a:pt x="10595864" y="1969770"/>
                    <a:pt x="10436987" y="2128520"/>
                    <a:pt x="10241153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710928" y="2962656"/>
            <a:ext cx="521208" cy="521208"/>
            <a:chOff x="0" y="0"/>
            <a:chExt cx="694944" cy="6949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4C91D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710928" y="2962656"/>
            <a:ext cx="521208" cy="521208"/>
            <a:chOff x="0" y="0"/>
            <a:chExt cx="694944" cy="6949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396728" y="2880360"/>
            <a:ext cx="6583680" cy="301752"/>
            <a:chOff x="0" y="0"/>
            <a:chExt cx="8778240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778240" cy="402336"/>
            </a:xfrm>
            <a:custGeom>
              <a:avLst/>
              <a:gdLst/>
              <a:ahLst/>
              <a:cxnLst/>
              <a:rect r="r" b="b" t="t" l="l"/>
              <a:pathLst>
                <a:path h="40233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5128" r="0" b="-37512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87782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Ultralytics YOLO – Tracking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396728" y="3236976"/>
            <a:ext cx="6652260" cy="576072"/>
            <a:chOff x="0" y="0"/>
            <a:chExt cx="8869680" cy="7680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869680" cy="768096"/>
            </a:xfrm>
            <a:custGeom>
              <a:avLst/>
              <a:gdLst/>
              <a:ahLst/>
              <a:cxnLst/>
              <a:rect r="r" b="b" t="t" l="l"/>
              <a:pathLst>
                <a:path h="7680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05" r="0" b="-17500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8869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2"/>
                </a:lnSpc>
              </a:pPr>
              <a:r>
                <a:rPr lang="en-US" sz="1502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Provides real-time object detection / tracking components suitable for multi-camera edge analytics.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396728" y="3867912"/>
            <a:ext cx="6652260" cy="250003"/>
            <a:chOff x="0" y="0"/>
            <a:chExt cx="8869680" cy="33333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869680" cy="333337"/>
            </a:xfrm>
            <a:custGeom>
              <a:avLst/>
              <a:gdLst/>
              <a:ahLst/>
              <a:cxnLst/>
              <a:rect r="r" b="b" t="t" l="l"/>
              <a:pathLst>
                <a:path h="333337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333337"/>
                  </a:lnTo>
                  <a:lnTo>
                    <a:pt x="0" y="3333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094" r="0" b="-46784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8869680" cy="342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349" b="true">
                  <a:solidFill>
                    <a:srgbClr val="4C91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github.com/ultralytics/ultralytics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481947" y="4626483"/>
            <a:ext cx="7946898" cy="1596390"/>
            <a:chOff x="0" y="0"/>
            <a:chExt cx="10595864" cy="2128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595864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595864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241153" y="0"/>
                  </a:lnTo>
                  <a:cubicBezTo>
                    <a:pt x="10437114" y="0"/>
                    <a:pt x="10595864" y="158877"/>
                    <a:pt x="10595864" y="354711"/>
                  </a:cubicBezTo>
                  <a:lnTo>
                    <a:pt x="10595864" y="1773809"/>
                  </a:lnTo>
                  <a:cubicBezTo>
                    <a:pt x="10595864" y="1969770"/>
                    <a:pt x="10436987" y="2128520"/>
                    <a:pt x="10241153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9710928" y="4882896"/>
            <a:ext cx="521208" cy="521208"/>
            <a:chOff x="0" y="0"/>
            <a:chExt cx="694944" cy="69494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F6C53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10928" y="4882896"/>
            <a:ext cx="521208" cy="521208"/>
            <a:chOff x="0" y="0"/>
            <a:chExt cx="694944" cy="69494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396728" y="4800600"/>
            <a:ext cx="6583680" cy="301752"/>
            <a:chOff x="0" y="0"/>
            <a:chExt cx="8778240" cy="40233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778240" cy="402336"/>
            </a:xfrm>
            <a:custGeom>
              <a:avLst/>
              <a:gdLst/>
              <a:ahLst/>
              <a:cxnLst/>
              <a:rect r="r" b="b" t="t" l="l"/>
              <a:pathLst>
                <a:path h="40233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5128" r="0" b="-37512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87782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NVIDIA DeepStream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396728" y="5157216"/>
            <a:ext cx="6652260" cy="576072"/>
            <a:chOff x="0" y="0"/>
            <a:chExt cx="8869680" cy="76809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869680" cy="768096"/>
            </a:xfrm>
            <a:custGeom>
              <a:avLst/>
              <a:gdLst/>
              <a:ahLst/>
              <a:cxnLst/>
              <a:rect r="r" b="b" t="t" l="l"/>
              <a:pathLst>
                <a:path h="7680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05" r="0" b="-17500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8869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2"/>
                </a:lnSpc>
              </a:pPr>
              <a:r>
                <a:rPr lang="en-US" sz="1502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Reference architecture for real-time multi-stream video analytics at the edge.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396728" y="5788152"/>
            <a:ext cx="6652260" cy="272755"/>
            <a:chOff x="0" y="0"/>
            <a:chExt cx="8869680" cy="36367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869680" cy="363673"/>
            </a:xfrm>
            <a:custGeom>
              <a:avLst/>
              <a:gdLst/>
              <a:ahLst/>
              <a:cxnLst/>
              <a:rect r="r" b="b" t="t" l="l"/>
              <a:pathLst>
                <a:path h="363673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363673"/>
                  </a:lnTo>
                  <a:lnTo>
                    <a:pt x="0" y="3636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965" r="0" b="-42048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8869680" cy="363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F6C5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developer.nvidia.com/deepstream-sdk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481947" y="6546723"/>
            <a:ext cx="7946898" cy="1596390"/>
            <a:chOff x="0" y="0"/>
            <a:chExt cx="10595864" cy="2128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595864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595864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241153" y="0"/>
                  </a:lnTo>
                  <a:cubicBezTo>
                    <a:pt x="10437114" y="0"/>
                    <a:pt x="10595864" y="158877"/>
                    <a:pt x="10595864" y="354711"/>
                  </a:cubicBezTo>
                  <a:lnTo>
                    <a:pt x="10595864" y="1773809"/>
                  </a:lnTo>
                  <a:cubicBezTo>
                    <a:pt x="10595864" y="1969770"/>
                    <a:pt x="10436987" y="2128520"/>
                    <a:pt x="10241153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192229"/>
            </a:solidFill>
            <a:ln w="19050" cap="sq">
              <a:solidFill>
                <a:srgbClr val="364852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710928" y="6803136"/>
            <a:ext cx="521208" cy="521208"/>
            <a:chOff x="0" y="0"/>
            <a:chExt cx="694944" cy="69494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15A050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710928" y="6803136"/>
            <a:ext cx="521208" cy="521208"/>
            <a:chOff x="0" y="0"/>
            <a:chExt cx="694944" cy="69494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694944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396728" y="6720840"/>
            <a:ext cx="6583680" cy="301752"/>
            <a:chOff x="0" y="0"/>
            <a:chExt cx="8778240" cy="40233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778240" cy="402336"/>
            </a:xfrm>
            <a:custGeom>
              <a:avLst/>
              <a:gdLst/>
              <a:ahLst/>
              <a:cxnLst/>
              <a:rect r="r" b="b" t="t" l="l"/>
              <a:pathLst>
                <a:path h="40233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5128" r="0" b="-37512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87782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PostGIS + MapLibre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396728" y="7077456"/>
            <a:ext cx="6652260" cy="576072"/>
            <a:chOff x="0" y="0"/>
            <a:chExt cx="8869680" cy="76809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869680" cy="768096"/>
            </a:xfrm>
            <a:custGeom>
              <a:avLst/>
              <a:gdLst/>
              <a:ahLst/>
              <a:cxnLst/>
              <a:rect r="r" b="b" t="t" l="l"/>
              <a:pathLst>
                <a:path h="7680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05" r="0" b="-17500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8869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2"/>
                </a:lnSpc>
              </a:pPr>
              <a:r>
                <a:rPr lang="en-US" sz="1502">
                  <a:solidFill>
                    <a:srgbClr val="B2BEC6"/>
                  </a:solidFill>
                  <a:latin typeface="Aptos"/>
                  <a:ea typeface="Aptos"/>
                  <a:cs typeface="Aptos"/>
                  <a:sym typeface="Aptos"/>
                </a:rPr>
                <a:t>Spatial database + web mapping foundation for GIS events, route context and fleet-wide heatmaps.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396728" y="7708392"/>
            <a:ext cx="6652260" cy="250003"/>
            <a:chOff x="0" y="0"/>
            <a:chExt cx="8869680" cy="33333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869680" cy="333337"/>
            </a:xfrm>
            <a:custGeom>
              <a:avLst/>
              <a:gdLst/>
              <a:ahLst/>
              <a:cxnLst/>
              <a:rect r="r" b="b" t="t" l="l"/>
              <a:pathLst>
                <a:path h="333337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333337"/>
                  </a:lnTo>
                  <a:lnTo>
                    <a:pt x="0" y="3333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094" r="0" b="-467848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8869680" cy="342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349" b="true">
                  <a:solidFill>
                    <a:srgbClr val="15A0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postgis.net  •  maplibre.org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87552" y="8558784"/>
            <a:ext cx="16431768" cy="521208"/>
            <a:chOff x="0" y="0"/>
            <a:chExt cx="21909024" cy="69494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909024" cy="694944"/>
            </a:xfrm>
            <a:custGeom>
              <a:avLst/>
              <a:gdLst/>
              <a:ahLst/>
              <a:cxnLst/>
              <a:rect r="r" b="b" t="t" l="l"/>
              <a:pathLst>
                <a:path h="694944" w="21909024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21793200" y="0"/>
                  </a:lnTo>
                  <a:cubicBezTo>
                    <a:pt x="21857208" y="0"/>
                    <a:pt x="21909024" y="51816"/>
                    <a:pt x="21909024" y="115824"/>
                  </a:cubicBezTo>
                  <a:lnTo>
                    <a:pt x="21909024" y="579120"/>
                  </a:lnTo>
                  <a:cubicBezTo>
                    <a:pt x="21909024" y="643128"/>
                    <a:pt x="21857208" y="694944"/>
                    <a:pt x="21793200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FF7E23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07008" y="8641080"/>
            <a:ext cx="15979140" cy="301752"/>
            <a:chOff x="0" y="0"/>
            <a:chExt cx="21305520" cy="40233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1305520" cy="402336"/>
            </a:xfrm>
            <a:custGeom>
              <a:avLst/>
              <a:gdLst/>
              <a:ahLst/>
              <a:cxnLst/>
              <a:rect r="r" b="b" t="t" l="l"/>
              <a:pathLst>
                <a:path h="402336" w="21305520">
                  <a:moveTo>
                    <a:pt x="0" y="0"/>
                  </a:moveTo>
                  <a:lnTo>
                    <a:pt x="21305520" y="0"/>
                  </a:lnTo>
                  <a:lnTo>
                    <a:pt x="21305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1821" r="0" b="-98182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213055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02"/>
                </a:lnSpc>
              </a:pPr>
              <a:r>
                <a:rPr lang="en-US" sz="1335" b="true">
                  <a:solidFill>
                    <a:srgbClr val="F5F7F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DESIGN TAKEAWAY  |  26124 is strongest when the bus fleet is the sensing layer — and the platform turns repeated sightings into trusted, actionable city intelligence.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DAHUTV1zYk0</dc:identifier>
  <dcterms:modified xsi:type="dcterms:W3CDTF">2011-08-01T06:04:30Z</dcterms:modified>
  <cp:revision>1</cp:revision>
  <dc:title>SIH2026_PS26124_ROADPULSE_Final.pptx</dc:title>
</cp:coreProperties>
</file>